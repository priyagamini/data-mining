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2" r:id="rId1"/>
  </p:sldMasterIdLst>
  <p:notesMasterIdLst>
    <p:notesMasterId r:id="rId17"/>
  </p:notesMasterIdLst>
  <p:sldIdLst>
    <p:sldId id="256" r:id="rId2"/>
    <p:sldId id="257" r:id="rId3"/>
    <p:sldId id="258" r:id="rId4"/>
    <p:sldId id="259" r:id="rId5"/>
    <p:sldId id="260" r:id="rId6"/>
    <p:sldId id="261" r:id="rId7"/>
    <p:sldId id="265" r:id="rId8"/>
    <p:sldId id="262" r:id="rId9"/>
    <p:sldId id="263" r:id="rId10"/>
    <p:sldId id="269" r:id="rId11"/>
    <p:sldId id="267" r:id="rId12"/>
    <p:sldId id="268" r:id="rId13"/>
    <p:sldId id="270" r:id="rId14"/>
    <p:sldId id="271" r:id="rId15"/>
    <p:sldId id="266" r:id="rId16"/>
  </p:sldIdLst>
  <p:sldSz cx="10058400" cy="7772400"/>
  <p:notesSz cx="9144000" cy="6858000"/>
  <p:kinsoku lang="zh-CN" invalStChars="!%),.:;?]}¨·ˇˉ་―‖’”…‰∶、。〃々〉》」』】〕〗！＂＇％），．：；？］｀｜｝～￠" invalEndChars="([{·‘“〈《「『【〔〖（．［｛￡￥"/>
  <p:defaultTextStyle>
    <a:defPPr>
      <a:defRPr lang="zh-CN"/>
    </a:defPPr>
    <a:lvl1pPr marL="0" algn="l" defTabSz="914400" fontAlgn="base" hangingPunct="0">
      <a:defRPr sz="2400">
        <a:solidFill>
          <a:schemeClr val="tx1"/>
        </a:solidFill>
        <a:latin typeface="Droid Sans"/>
        <a:ea typeface="Droid Sans"/>
        <a:cs typeface="Times New Roman" pitchFamily="18" charset="0"/>
      </a:defRPr>
    </a:lvl1pPr>
    <a:lvl2pPr marL="228600" algn="l" defTabSz="914400" fontAlgn="base" hangingPunct="0">
      <a:defRPr sz="2400">
        <a:solidFill>
          <a:schemeClr val="tx1"/>
        </a:solidFill>
        <a:latin typeface="Droid Sans"/>
        <a:ea typeface="Droid Sans"/>
        <a:cs typeface="Times New Roman" pitchFamily="18" charset="0"/>
      </a:defRPr>
    </a:lvl2pPr>
    <a:lvl3pPr marL="457200" algn="l" defTabSz="914400" fontAlgn="base" hangingPunct="0">
      <a:defRPr sz="2400">
        <a:solidFill>
          <a:schemeClr val="tx1"/>
        </a:solidFill>
        <a:latin typeface="Droid Sans"/>
        <a:ea typeface="Droid Sans"/>
        <a:cs typeface="Times New Roman" pitchFamily="18" charset="0"/>
      </a:defRPr>
    </a:lvl3pPr>
    <a:lvl4pPr marL="685800" algn="l" defTabSz="914400" fontAlgn="base" hangingPunct="0">
      <a:defRPr sz="2400">
        <a:solidFill>
          <a:schemeClr val="tx1"/>
        </a:solidFill>
        <a:latin typeface="Droid Sans"/>
        <a:ea typeface="Droid Sans"/>
        <a:cs typeface="Times New Roman" pitchFamily="18" charset="0"/>
      </a:defRPr>
    </a:lvl4pPr>
    <a:lvl5pPr marL="914400" algn="l" defTabSz="914400" fontAlgn="base" hangingPunct="0">
      <a:defRPr sz="2400">
        <a:solidFill>
          <a:schemeClr val="tx1"/>
        </a:solidFill>
        <a:latin typeface="Droid Sans"/>
        <a:ea typeface="Droid Sans"/>
        <a:cs typeface="Times New Roman" pitchFamily="18" charset="0"/>
      </a:defRPr>
    </a:lvl5pPr>
    <a:lvl6pPr marL="1143000" algn="l" defTabSz="914400" fontAlgn="base" hangingPunct="0">
      <a:defRPr sz="2400">
        <a:solidFill>
          <a:schemeClr val="tx1"/>
        </a:solidFill>
        <a:latin typeface="Droid Sans"/>
        <a:ea typeface="Droid Sans"/>
        <a:cs typeface="Times New Roman" pitchFamily="18" charset="0"/>
      </a:defRPr>
    </a:lvl6pPr>
    <a:lvl7pPr marL="1371600" algn="l" defTabSz="914400" fontAlgn="base" hangingPunct="0">
      <a:defRPr sz="2400">
        <a:solidFill>
          <a:schemeClr val="tx1"/>
        </a:solidFill>
        <a:latin typeface="Droid Sans"/>
        <a:ea typeface="Droid Sans"/>
        <a:cs typeface="Times New Roman" pitchFamily="18" charset="0"/>
      </a:defRPr>
    </a:lvl7pPr>
    <a:lvl8pPr marL="1600200" algn="l" defTabSz="914400" fontAlgn="base" hangingPunct="0">
      <a:defRPr sz="2400">
        <a:solidFill>
          <a:schemeClr val="tx1"/>
        </a:solidFill>
        <a:latin typeface="Droid Sans"/>
        <a:ea typeface="Droid Sans"/>
        <a:cs typeface="Times New Roman" pitchFamily="18" charset="0"/>
      </a:defRPr>
    </a:lvl8pPr>
    <a:lvl9pPr marL="1600200" algn="l" defTabSz="914400" fontAlgn="base" hangingPunct="0">
      <a:defRPr sz="2400">
        <a:solidFill>
          <a:schemeClr val="tx1"/>
        </a:solidFill>
        <a:latin typeface="Droid Sans"/>
        <a:ea typeface="Droid Sans"/>
        <a:cs typeface="Times New Roman" pitchFamily="18" charset="0"/>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6AE695-1C5C-4F5A-8DE5-0E855BE53554}" v="29" dt="2026-03-01T18:06:14.4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autoAdjust="0"/>
  </p:normalViewPr>
  <p:slideViewPr>
    <p:cSldViewPr>
      <p:cViewPr varScale="1">
        <p:scale>
          <a:sx n="61" d="100"/>
          <a:sy n="61" d="100"/>
        </p:scale>
        <p:origin x="1740" y="7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a:t>
            </a:fld>
            <a:endParaRPr lang="zh-CN" altLang="en-US" sz="1200"/>
          </a:p>
        </p:txBody>
      </p:sp>
      <p:sp>
        <p:nvSpPr>
          <p:cNvPr id="7" name="文本框"/>
          <p:cNvSpPr>
            <a:spLocks noGrp="1"/>
          </p:cNvSpPr>
          <p:nvPr>
            <p:ph type="hdr"/>
          </p:nvPr>
        </p:nvSpPr>
        <p:spPr>
          <a:xfrm>
            <a:off x="0" y="0"/>
            <a:ext cx="4359275" cy="388938"/>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p>
        </p:txBody>
      </p:sp>
      <p:sp>
        <p:nvSpPr>
          <p:cNvPr id="8" name="文本框"/>
          <p:cNvSpPr>
            <a:spLocks noGrp="1"/>
          </p:cNvSpPr>
          <p:nvPr>
            <p:ph type="dt" idx="1"/>
          </p:nvPr>
        </p:nvSpPr>
        <p:spPr>
          <a:xfrm>
            <a:off x="5697538" y="0"/>
            <a:ext cx="4359275" cy="388938"/>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t>3/23/2026</a:t>
            </a:fld>
            <a:endParaRPr lang="zh-CN" altLang="en-US" sz="1200"/>
          </a:p>
        </p:txBody>
      </p:sp>
      <p:sp>
        <p:nvSpPr>
          <p:cNvPr id="9" name="对象"/>
          <p:cNvSpPr>
            <a:spLocks noGrp="1" noRot="1" noChangeAspect="1"/>
          </p:cNvSpPr>
          <p:nvPr>
            <p:ph type="sldImg" idx="2"/>
          </p:nvPr>
        </p:nvSpPr>
        <p:spPr>
          <a:xfrm>
            <a:off x="3332163" y="971550"/>
            <a:ext cx="3394075" cy="2622550"/>
          </a:xfrm>
          <a:prstGeom prst="rect">
            <a:avLst/>
          </a:prstGeom>
          <a:noFill/>
          <a:ln w="12700" cap="flat" cmpd="sng">
            <a:solidFill>
              <a:srgbClr val="000000"/>
            </a:solidFill>
            <a:prstDash val="solid"/>
            <a:round/>
          </a:ln>
        </p:spPr>
      </p:sp>
      <p:sp>
        <p:nvSpPr>
          <p:cNvPr id="10" name="文本框"/>
          <p:cNvSpPr>
            <a:spLocks noGrp="1"/>
          </p:cNvSpPr>
          <p:nvPr>
            <p:ph type="body" idx="3"/>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11" name="文本框"/>
          <p:cNvSpPr>
            <a:spLocks noGrp="1"/>
          </p:cNvSpPr>
          <p:nvPr>
            <p:ph type="ftr" idx="4"/>
          </p:nvPr>
        </p:nvSpPr>
        <p:spPr>
          <a:xfrm>
            <a:off x="0"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p>
        </p:txBody>
      </p:sp>
    </p:spTree>
    <p:extLst>
      <p:ext uri="{BB962C8B-B14F-4D97-AF65-F5344CB8AC3E}">
        <p14:creationId xmlns:p14="http://schemas.microsoft.com/office/powerpoint/2010/main" val="682444043"/>
      </p:ext>
    </p:extLst>
  </p:cSld>
  <p:clrMap bg1="lt1" tx1="dk1" bg2="lt2" tx2="dk2" accent1="accent1" accent2="accent2" accent3="accent3" accent4="accent4" accent5="accent5" accent6="accent6" hlink="hlink" folHlink="folHlink"/>
  <p:hf hdr="0" ftr="0" dt="0"/>
  <p:notesStyle>
    <a:lvl1pPr marL="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1pPr>
    <a:lvl2pPr marL="4572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2pPr>
    <a:lvl3pPr marL="9144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3pPr>
    <a:lvl4pPr marL="13716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4pPr>
    <a:lvl5pPr marL="18288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5pPr>
    <a:lvl6pPr marL="22860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6pPr>
    <a:lvl7pPr marL="27432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7pPr>
    <a:lvl8pPr marL="32004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8pPr>
    <a:lvl9pPr marL="32004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a:ea typeface="Droid Sans"/>
        <a:cs typeface="Times New Roman" pitchFamily="18"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1</a:t>
            </a:fld>
            <a:endParaRPr lang="zh-CN" altLang="en-US" sz="1200"/>
          </a:p>
        </p:txBody>
      </p:sp>
    </p:spTree>
    <p:extLst>
      <p:ext uri="{BB962C8B-B14F-4D97-AF65-F5344CB8AC3E}">
        <p14:creationId xmlns:p14="http://schemas.microsoft.com/office/powerpoint/2010/main" val="1806154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2</a:t>
            </a:fld>
            <a:endParaRPr lang="zh-CN" altLang="en-US" sz="1200"/>
          </a:p>
        </p:txBody>
      </p:sp>
    </p:spTree>
    <p:extLst>
      <p:ext uri="{BB962C8B-B14F-4D97-AF65-F5344CB8AC3E}">
        <p14:creationId xmlns:p14="http://schemas.microsoft.com/office/powerpoint/2010/main" val="1041103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3</a:t>
            </a:fld>
            <a:endParaRPr lang="zh-CN" altLang="en-US" sz="1200"/>
          </a:p>
        </p:txBody>
      </p:sp>
    </p:spTree>
    <p:extLst>
      <p:ext uri="{BB962C8B-B14F-4D97-AF65-F5344CB8AC3E}">
        <p14:creationId xmlns:p14="http://schemas.microsoft.com/office/powerpoint/2010/main" val="1869722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4</a:t>
            </a:fld>
            <a:endParaRPr lang="zh-CN" altLang="en-US" sz="1200"/>
          </a:p>
        </p:txBody>
      </p:sp>
    </p:spTree>
    <p:extLst>
      <p:ext uri="{BB962C8B-B14F-4D97-AF65-F5344CB8AC3E}">
        <p14:creationId xmlns:p14="http://schemas.microsoft.com/office/powerpoint/2010/main" val="499843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5</a:t>
            </a:fld>
            <a:endParaRPr lang="zh-CN" altLang="en-US" sz="1200"/>
          </a:p>
        </p:txBody>
      </p:sp>
    </p:spTree>
    <p:extLst>
      <p:ext uri="{BB962C8B-B14F-4D97-AF65-F5344CB8AC3E}">
        <p14:creationId xmlns:p14="http://schemas.microsoft.com/office/powerpoint/2010/main" val="2114853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6</a:t>
            </a:fld>
            <a:endParaRPr lang="zh-CN" altLang="en-US" sz="1200"/>
          </a:p>
        </p:txBody>
      </p:sp>
    </p:spTree>
    <p:extLst>
      <p:ext uri="{BB962C8B-B14F-4D97-AF65-F5344CB8AC3E}">
        <p14:creationId xmlns:p14="http://schemas.microsoft.com/office/powerpoint/2010/main" val="1111308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7</a:t>
            </a:fld>
            <a:endParaRPr lang="zh-CN" altLang="en-US" sz="1200"/>
          </a:p>
        </p:txBody>
      </p:sp>
    </p:spTree>
    <p:extLst>
      <p:ext uri="{BB962C8B-B14F-4D97-AF65-F5344CB8AC3E}">
        <p14:creationId xmlns:p14="http://schemas.microsoft.com/office/powerpoint/2010/main" val="482387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8</a:t>
            </a:fld>
            <a:endParaRPr lang="zh-CN" altLang="en-US" sz="1200"/>
          </a:p>
        </p:txBody>
      </p:sp>
    </p:spTree>
    <p:extLst>
      <p:ext uri="{BB962C8B-B14F-4D97-AF65-F5344CB8AC3E}">
        <p14:creationId xmlns:p14="http://schemas.microsoft.com/office/powerpoint/2010/main" val="1497781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9</a:t>
            </a:fld>
            <a:endParaRPr lang="zh-CN" altLang="en-US" sz="1200"/>
          </a:p>
        </p:txBody>
      </p:sp>
    </p:spTree>
    <p:extLst>
      <p:ext uri="{BB962C8B-B14F-4D97-AF65-F5344CB8AC3E}">
        <p14:creationId xmlns:p14="http://schemas.microsoft.com/office/powerpoint/2010/main" val="598913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10</a:t>
            </a:fld>
            <a:endParaRPr lang="zh-CN" altLang="en-US" sz="1200"/>
          </a:p>
        </p:txBody>
      </p:sp>
    </p:spTree>
    <p:extLst>
      <p:ext uri="{BB962C8B-B14F-4D97-AF65-F5344CB8AC3E}">
        <p14:creationId xmlns:p14="http://schemas.microsoft.com/office/powerpoint/2010/main" val="3657695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B172C-5EA8-C7AF-AC13-E97E48D70E14}"/>
            </a:ext>
          </a:extLst>
        </p:cNvPr>
        <p:cNvGrpSpPr/>
        <p:nvPr/>
      </p:nvGrpSpPr>
      <p:grpSpPr>
        <a:xfrm>
          <a:off x="0" y="0"/>
          <a:ext cx="0" cy="0"/>
          <a:chOff x="0" y="0"/>
          <a:chExt cx="0" cy="0"/>
        </a:xfrm>
      </p:grpSpPr>
      <p:sp>
        <p:nvSpPr>
          <p:cNvPr id="2" name="文本框">
            <a:extLst>
              <a:ext uri="{FF2B5EF4-FFF2-40B4-BE49-F238E27FC236}">
                <a16:creationId xmlns:a16="http://schemas.microsoft.com/office/drawing/2014/main" id="{1164A5A5-8B30-4EF6-1D0D-C42A8A43F599}"/>
              </a:ext>
            </a:extLst>
          </p:cNvPr>
          <p:cNvSpPr>
            <a:spLocks noGrp="1" noRot="1" noChangeAspect="1"/>
          </p:cNvSpPr>
          <p:nvPr>
            <p:ph type="sldImg"/>
          </p:nvPr>
        </p:nvSpPr>
        <p:spPr/>
      </p:sp>
      <p:sp>
        <p:nvSpPr>
          <p:cNvPr id="3" name="文本框">
            <a:extLst>
              <a:ext uri="{FF2B5EF4-FFF2-40B4-BE49-F238E27FC236}">
                <a16:creationId xmlns:a16="http://schemas.microsoft.com/office/drawing/2014/main" id="{56F0C308-78BD-B07E-3223-86037C4252A5}"/>
              </a:ext>
            </a:extLst>
          </p:cNvPr>
          <p:cNvSpPr>
            <a:spLocks noGrp="1"/>
          </p:cNvSpPr>
          <p:nvPr>
            <p:ph type="body" idx="1"/>
          </p:nvPr>
        </p:nvSpPr>
        <p:spPr/>
        <p:txBody>
          <a:bodyPr/>
          <a:lstStyle/>
          <a:p>
            <a:endParaRPr lang="zh-CN" altLang="en-US"/>
          </a:p>
        </p:txBody>
      </p:sp>
      <p:sp>
        <p:nvSpPr>
          <p:cNvPr id="12" name="文本框">
            <a:extLst>
              <a:ext uri="{FF2B5EF4-FFF2-40B4-BE49-F238E27FC236}">
                <a16:creationId xmlns:a16="http://schemas.microsoft.com/office/drawing/2014/main" id="{09D7CFA5-E364-0C05-E8E3-149131CA68D8}"/>
              </a:ext>
            </a:extLst>
          </p:cNvPr>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11</a:t>
            </a:fld>
            <a:endParaRPr lang="zh-CN" altLang="en-US" sz="1200"/>
          </a:p>
        </p:txBody>
      </p:sp>
    </p:spTree>
    <p:extLst>
      <p:ext uri="{BB962C8B-B14F-4D97-AF65-F5344CB8AC3E}">
        <p14:creationId xmlns:p14="http://schemas.microsoft.com/office/powerpoint/2010/main" val="254232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A037F-A674-D4FD-1A7D-F416C4F62F6C}"/>
            </a:ext>
          </a:extLst>
        </p:cNvPr>
        <p:cNvGrpSpPr/>
        <p:nvPr/>
      </p:nvGrpSpPr>
      <p:grpSpPr>
        <a:xfrm>
          <a:off x="0" y="0"/>
          <a:ext cx="0" cy="0"/>
          <a:chOff x="0" y="0"/>
          <a:chExt cx="0" cy="0"/>
        </a:xfrm>
      </p:grpSpPr>
      <p:sp>
        <p:nvSpPr>
          <p:cNvPr id="2" name="文本框">
            <a:extLst>
              <a:ext uri="{FF2B5EF4-FFF2-40B4-BE49-F238E27FC236}">
                <a16:creationId xmlns:a16="http://schemas.microsoft.com/office/drawing/2014/main" id="{E16658B5-8AE4-E34A-FAB4-8B2E88265884}"/>
              </a:ext>
            </a:extLst>
          </p:cNvPr>
          <p:cNvSpPr>
            <a:spLocks noGrp="1" noRot="1" noChangeAspect="1"/>
          </p:cNvSpPr>
          <p:nvPr>
            <p:ph type="sldImg"/>
          </p:nvPr>
        </p:nvSpPr>
        <p:spPr/>
      </p:sp>
      <p:sp>
        <p:nvSpPr>
          <p:cNvPr id="3" name="文本框">
            <a:extLst>
              <a:ext uri="{FF2B5EF4-FFF2-40B4-BE49-F238E27FC236}">
                <a16:creationId xmlns:a16="http://schemas.microsoft.com/office/drawing/2014/main" id="{E8A93090-B345-F1F7-1F99-DAE9AE995C5F}"/>
              </a:ext>
            </a:extLst>
          </p:cNvPr>
          <p:cNvSpPr>
            <a:spLocks noGrp="1"/>
          </p:cNvSpPr>
          <p:nvPr>
            <p:ph type="body" idx="1"/>
          </p:nvPr>
        </p:nvSpPr>
        <p:spPr/>
        <p:txBody>
          <a:bodyPr/>
          <a:lstStyle/>
          <a:p>
            <a:endParaRPr lang="zh-CN" altLang="en-US"/>
          </a:p>
        </p:txBody>
      </p:sp>
      <p:sp>
        <p:nvSpPr>
          <p:cNvPr id="12" name="文本框">
            <a:extLst>
              <a:ext uri="{FF2B5EF4-FFF2-40B4-BE49-F238E27FC236}">
                <a16:creationId xmlns:a16="http://schemas.microsoft.com/office/drawing/2014/main" id="{61F5F4C8-3D97-52F0-0383-703B34B2362E}"/>
              </a:ext>
            </a:extLst>
          </p:cNvPr>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12</a:t>
            </a:fld>
            <a:endParaRPr lang="zh-CN" altLang="en-US" sz="1200"/>
          </a:p>
        </p:txBody>
      </p:sp>
    </p:spTree>
    <p:extLst>
      <p:ext uri="{BB962C8B-B14F-4D97-AF65-F5344CB8AC3E}">
        <p14:creationId xmlns:p14="http://schemas.microsoft.com/office/powerpoint/2010/main" val="2605631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A037F-A674-D4FD-1A7D-F416C4F62F6C}"/>
            </a:ext>
          </a:extLst>
        </p:cNvPr>
        <p:cNvGrpSpPr/>
        <p:nvPr/>
      </p:nvGrpSpPr>
      <p:grpSpPr>
        <a:xfrm>
          <a:off x="0" y="0"/>
          <a:ext cx="0" cy="0"/>
          <a:chOff x="0" y="0"/>
          <a:chExt cx="0" cy="0"/>
        </a:xfrm>
      </p:grpSpPr>
      <p:sp>
        <p:nvSpPr>
          <p:cNvPr id="2" name="文本框">
            <a:extLst>
              <a:ext uri="{FF2B5EF4-FFF2-40B4-BE49-F238E27FC236}">
                <a16:creationId xmlns:a16="http://schemas.microsoft.com/office/drawing/2014/main" id="{E16658B5-8AE4-E34A-FAB4-8B2E88265884}"/>
              </a:ext>
            </a:extLst>
          </p:cNvPr>
          <p:cNvSpPr>
            <a:spLocks noGrp="1" noRot="1" noChangeAspect="1"/>
          </p:cNvSpPr>
          <p:nvPr>
            <p:ph type="sldImg"/>
          </p:nvPr>
        </p:nvSpPr>
        <p:spPr/>
      </p:sp>
      <p:sp>
        <p:nvSpPr>
          <p:cNvPr id="3" name="文本框">
            <a:extLst>
              <a:ext uri="{FF2B5EF4-FFF2-40B4-BE49-F238E27FC236}">
                <a16:creationId xmlns:a16="http://schemas.microsoft.com/office/drawing/2014/main" id="{E8A93090-B345-F1F7-1F99-DAE9AE995C5F}"/>
              </a:ext>
            </a:extLst>
          </p:cNvPr>
          <p:cNvSpPr>
            <a:spLocks noGrp="1"/>
          </p:cNvSpPr>
          <p:nvPr>
            <p:ph type="body" idx="1"/>
          </p:nvPr>
        </p:nvSpPr>
        <p:spPr/>
        <p:txBody>
          <a:bodyPr/>
          <a:lstStyle/>
          <a:p>
            <a:endParaRPr lang="zh-CN" altLang="en-US"/>
          </a:p>
        </p:txBody>
      </p:sp>
      <p:sp>
        <p:nvSpPr>
          <p:cNvPr id="12" name="文本框">
            <a:extLst>
              <a:ext uri="{FF2B5EF4-FFF2-40B4-BE49-F238E27FC236}">
                <a16:creationId xmlns:a16="http://schemas.microsoft.com/office/drawing/2014/main" id="{61F5F4C8-3D97-52F0-0383-703B34B2362E}"/>
              </a:ext>
            </a:extLst>
          </p:cNvPr>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13</a:t>
            </a:fld>
            <a:endParaRPr lang="zh-CN" altLang="en-US" sz="1200"/>
          </a:p>
        </p:txBody>
      </p:sp>
    </p:spTree>
    <p:extLst>
      <p:ext uri="{BB962C8B-B14F-4D97-AF65-F5344CB8AC3E}">
        <p14:creationId xmlns:p14="http://schemas.microsoft.com/office/powerpoint/2010/main" val="2175842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A037F-A674-D4FD-1A7D-F416C4F62F6C}"/>
            </a:ext>
          </a:extLst>
        </p:cNvPr>
        <p:cNvGrpSpPr/>
        <p:nvPr/>
      </p:nvGrpSpPr>
      <p:grpSpPr>
        <a:xfrm>
          <a:off x="0" y="0"/>
          <a:ext cx="0" cy="0"/>
          <a:chOff x="0" y="0"/>
          <a:chExt cx="0" cy="0"/>
        </a:xfrm>
      </p:grpSpPr>
      <p:sp>
        <p:nvSpPr>
          <p:cNvPr id="2" name="文本框">
            <a:extLst>
              <a:ext uri="{FF2B5EF4-FFF2-40B4-BE49-F238E27FC236}">
                <a16:creationId xmlns:a16="http://schemas.microsoft.com/office/drawing/2014/main" id="{E16658B5-8AE4-E34A-FAB4-8B2E88265884}"/>
              </a:ext>
            </a:extLst>
          </p:cNvPr>
          <p:cNvSpPr>
            <a:spLocks noGrp="1" noRot="1" noChangeAspect="1"/>
          </p:cNvSpPr>
          <p:nvPr>
            <p:ph type="sldImg"/>
          </p:nvPr>
        </p:nvSpPr>
        <p:spPr/>
      </p:sp>
      <p:sp>
        <p:nvSpPr>
          <p:cNvPr id="3" name="文本框">
            <a:extLst>
              <a:ext uri="{FF2B5EF4-FFF2-40B4-BE49-F238E27FC236}">
                <a16:creationId xmlns:a16="http://schemas.microsoft.com/office/drawing/2014/main" id="{E8A93090-B345-F1F7-1F99-DAE9AE995C5F}"/>
              </a:ext>
            </a:extLst>
          </p:cNvPr>
          <p:cNvSpPr>
            <a:spLocks noGrp="1"/>
          </p:cNvSpPr>
          <p:nvPr>
            <p:ph type="body" idx="1"/>
          </p:nvPr>
        </p:nvSpPr>
        <p:spPr/>
        <p:txBody>
          <a:bodyPr/>
          <a:lstStyle/>
          <a:p>
            <a:endParaRPr lang="zh-CN" altLang="en-US"/>
          </a:p>
        </p:txBody>
      </p:sp>
      <p:sp>
        <p:nvSpPr>
          <p:cNvPr id="12" name="文本框">
            <a:extLst>
              <a:ext uri="{FF2B5EF4-FFF2-40B4-BE49-F238E27FC236}">
                <a16:creationId xmlns:a16="http://schemas.microsoft.com/office/drawing/2014/main" id="{61F5F4C8-3D97-52F0-0383-703B34B2362E}"/>
              </a:ext>
            </a:extLst>
          </p:cNvPr>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14</a:t>
            </a:fld>
            <a:endParaRPr lang="zh-CN" altLang="en-US" sz="1200"/>
          </a:p>
        </p:txBody>
      </p:sp>
    </p:spTree>
    <p:extLst>
      <p:ext uri="{BB962C8B-B14F-4D97-AF65-F5344CB8AC3E}">
        <p14:creationId xmlns:p14="http://schemas.microsoft.com/office/powerpoint/2010/main" val="609088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2"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a:ea typeface="Droid Sans"/>
                <a:cs typeface="Lucida Sans"/>
              </a:rPr>
              <a:t>15</a:t>
            </a:fld>
            <a:endParaRPr lang="zh-CN" altLang="en-US" sz="1200"/>
          </a:p>
        </p:txBody>
      </p:sp>
    </p:spTree>
    <p:extLst>
      <p:ext uri="{BB962C8B-B14F-4D97-AF65-F5344CB8AC3E}">
        <p14:creationId xmlns:p14="http://schemas.microsoft.com/office/powerpoint/2010/main" val="56713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754380" y="2414481"/>
            <a:ext cx="8549640" cy="1666028"/>
          </a:xfrm>
        </p:spPr>
        <p:txBody>
          <a:bodyPr/>
          <a:lstStyle/>
          <a:p>
            <a:r>
              <a:rPr lang="zh-CN" altLang="en-US"/>
              <a:t>单击此处编辑母版标题样式</a:t>
            </a:r>
          </a:p>
        </p:txBody>
      </p:sp>
      <p:sp>
        <p:nvSpPr>
          <p:cNvPr id="3" name="文本框"/>
          <p:cNvSpPr>
            <a:spLocks noGrp="1"/>
          </p:cNvSpPr>
          <p:nvPr>
            <p:ph type="subTitle" idx="1"/>
          </p:nvPr>
        </p:nvSpPr>
        <p:spPr>
          <a:xfrm>
            <a:off x="1508760" y="4404359"/>
            <a:ext cx="7040880" cy="198628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564587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2139696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517141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546797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16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640910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09797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155120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06471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315690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2026/3/23</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549956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title"/>
          </p:nvPr>
        </p:nvSpPr>
        <p:spPr>
          <a:xfrm>
            <a:off x="3830970" y="881554"/>
            <a:ext cx="2528570" cy="37528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endParaRPr lang="zh-CN" altLang="en-US" sz="2300" b="1" i="0">
              <a:solidFill>
                <a:srgbClr val="375F92"/>
              </a:solidFill>
              <a:latin typeface="Palatino Linotype" charset="0"/>
              <a:cs typeface="Palatino Linotype" charset="0"/>
            </a:endParaRPr>
          </a:p>
        </p:txBody>
      </p:sp>
      <p:sp>
        <p:nvSpPr>
          <p:cNvPr id="14" name="文本框"/>
          <p:cNvSpPr>
            <a:spLocks noGrp="1"/>
          </p:cNvSpPr>
          <p:nvPr>
            <p:ph type="body" idx="1"/>
          </p:nvPr>
        </p:nvSpPr>
        <p:spPr>
          <a:xfrm>
            <a:off x="621187" y="1409149"/>
            <a:ext cx="8949055" cy="329437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endParaRPr lang="zh-CN" altLang="en-US" sz="1950" b="1" i="0">
              <a:solidFill>
                <a:schemeClr val="tx1"/>
              </a:solidFill>
              <a:latin typeface="Palatino Linotype" charset="0"/>
              <a:cs typeface="Palatino Linotype" charset="0"/>
            </a:endParaRPr>
          </a:p>
        </p:txBody>
      </p:sp>
      <p:sp>
        <p:nvSpPr>
          <p:cNvPr id="15" name="文本框"/>
          <p:cNvSpPr>
            <a:spLocks noGrp="1"/>
          </p:cNvSpPr>
          <p:nvPr>
            <p:ph type="ftr" idx="5"/>
          </p:nvPr>
        </p:nvSpPr>
        <p:spPr>
          <a:xfrm>
            <a:off x="3419856" y="7228332"/>
            <a:ext cx="3218688"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endParaRPr>
          </a:p>
        </p:txBody>
      </p:sp>
      <p:sp>
        <p:nvSpPr>
          <p:cNvPr id="16" name="文本框"/>
          <p:cNvSpPr>
            <a:spLocks noGrp="1"/>
          </p:cNvSpPr>
          <p:nvPr>
            <p:ph type="dt" idx="6"/>
          </p:nvPr>
        </p:nvSpPr>
        <p:spPr>
          <a:xfrm>
            <a:off x="502919" y="7228332"/>
            <a:ext cx="2313432"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l"/>
            <a:endParaRPr lang="zh-CN" altLang="en-US">
              <a:solidFill>
                <a:srgbClr val="898989"/>
              </a:solidFill>
            </a:endParaRPr>
          </a:p>
        </p:txBody>
      </p:sp>
      <p:sp>
        <p:nvSpPr>
          <p:cNvPr id="17" name="文本框"/>
          <p:cNvSpPr>
            <a:spLocks noGrp="1"/>
          </p:cNvSpPr>
          <p:nvPr>
            <p:ph type="sldNum" idx="7"/>
          </p:nvPr>
        </p:nvSpPr>
        <p:spPr>
          <a:xfrm>
            <a:off x="7242048" y="7228332"/>
            <a:ext cx="2313432"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r"/>
            <a:fld id="{CAD2D6BD-DE1B-4B5F-8B41-2702339687B9}" type="slidenum">
              <a:rPr lang="en-US" altLang="zh-CN" sz="2400" b="0" i="0" u="none" strike="noStrike" kern="0" cap="none" spc="0" baseline="0">
                <a:solidFill>
                  <a:srgbClr val="898989"/>
                </a:solidFill>
                <a:latin typeface="Droid Sans"/>
                <a:ea typeface="Droid Sans"/>
                <a:cs typeface="Lucida Sans"/>
              </a:rPr>
              <a:t>‹#›</a:t>
            </a:fld>
            <a:endParaRPr lang="zh-CN" altLang="en-US">
              <a:solidFill>
                <a:srgbClr val="898989"/>
              </a:solidFill>
            </a:endParaRPr>
          </a:p>
        </p:txBody>
      </p:sp>
    </p:spTree>
    <p:extLst>
      <p:ext uri="{BB962C8B-B14F-4D97-AF65-F5344CB8AC3E}">
        <p14:creationId xmlns:p14="http://schemas.microsoft.com/office/powerpoint/2010/main" val="1140742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pic>
        <p:nvPicPr>
          <p:cNvPr id="21" name="图片"/>
          <p:cNvPicPr>
            <a:picLocks/>
          </p:cNvPicPr>
          <p:nvPr/>
        </p:nvPicPr>
        <p:blipFill>
          <a:blip r:embed="rId2" cstate="print"/>
          <a:stretch>
            <a:fillRect/>
          </a:stretch>
        </p:blipFill>
        <p:spPr>
          <a:xfrm>
            <a:off x="2648056" y="258721"/>
            <a:ext cx="4601365" cy="704792"/>
          </a:xfrm>
          <a:prstGeom prst="rect">
            <a:avLst/>
          </a:prstGeom>
          <a:noFill/>
          <a:ln w="12700" cap="flat" cmpd="sng">
            <a:noFill/>
            <a:prstDash val="solid"/>
            <a:miter/>
          </a:ln>
        </p:spPr>
      </p:pic>
      <p:pic>
        <p:nvPicPr>
          <p:cNvPr id="22" name="图片"/>
          <p:cNvPicPr>
            <a:picLocks/>
          </p:cNvPicPr>
          <p:nvPr/>
        </p:nvPicPr>
        <p:blipFill>
          <a:blip r:embed="rId3" cstate="print"/>
          <a:stretch>
            <a:fillRect/>
          </a:stretch>
        </p:blipFill>
        <p:spPr>
          <a:xfrm>
            <a:off x="2530316" y="125729"/>
            <a:ext cx="4997766" cy="1045130"/>
          </a:xfrm>
          <a:prstGeom prst="rect">
            <a:avLst/>
          </a:prstGeom>
          <a:noFill/>
          <a:ln w="12700" cap="flat" cmpd="sng">
            <a:noFill/>
            <a:prstDash val="solid"/>
            <a:miter/>
          </a:ln>
        </p:spPr>
      </p:pic>
      <p:pic>
        <p:nvPicPr>
          <p:cNvPr id="23" name="图片"/>
          <p:cNvPicPr>
            <a:picLocks/>
          </p:cNvPicPr>
          <p:nvPr/>
        </p:nvPicPr>
        <p:blipFill>
          <a:blip r:embed="rId4" cstate="print"/>
          <a:stretch>
            <a:fillRect/>
          </a:stretch>
        </p:blipFill>
        <p:spPr>
          <a:xfrm>
            <a:off x="2663903" y="251407"/>
            <a:ext cx="4577410" cy="506848"/>
          </a:xfrm>
          <a:prstGeom prst="rect">
            <a:avLst/>
          </a:prstGeom>
          <a:noFill/>
          <a:ln w="12700" cap="flat" cmpd="sng">
            <a:noFill/>
            <a:prstDash val="solid"/>
            <a:miter/>
          </a:ln>
        </p:spPr>
      </p:pic>
      <p:sp>
        <p:nvSpPr>
          <p:cNvPr id="24" name="曲线"/>
          <p:cNvSpPr>
            <a:spLocks/>
          </p:cNvSpPr>
          <p:nvPr/>
        </p:nvSpPr>
        <p:spPr>
          <a:xfrm>
            <a:off x="2718911" y="290750"/>
            <a:ext cx="4471670" cy="400685"/>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50" y="282"/>
                </a:lnTo>
                <a:lnTo>
                  <a:pt x="119" y="1056"/>
                </a:lnTo>
                <a:lnTo>
                  <a:pt x="32" y="2197"/>
                </a:lnTo>
                <a:lnTo>
                  <a:pt x="0" y="3597"/>
                </a:lnTo>
                <a:lnTo>
                  <a:pt x="0" y="17995"/>
                </a:lnTo>
                <a:lnTo>
                  <a:pt x="32" y="19395"/>
                </a:lnTo>
                <a:lnTo>
                  <a:pt x="119" y="20542"/>
                </a:lnTo>
                <a:lnTo>
                  <a:pt x="250" y="21310"/>
                </a:lnTo>
                <a:lnTo>
                  <a:pt x="409" y="21592"/>
                </a:lnTo>
                <a:lnTo>
                  <a:pt x="21188" y="21592"/>
                </a:lnTo>
                <a:lnTo>
                  <a:pt x="21348" y="21310"/>
                </a:lnTo>
                <a:lnTo>
                  <a:pt x="21478" y="20542"/>
                </a:lnTo>
                <a:lnTo>
                  <a:pt x="21565" y="19395"/>
                </a:lnTo>
                <a:lnTo>
                  <a:pt x="21598" y="17995"/>
                </a:lnTo>
                <a:lnTo>
                  <a:pt x="21598" y="3597"/>
                </a:lnTo>
                <a:lnTo>
                  <a:pt x="21565" y="2197"/>
                </a:lnTo>
                <a:lnTo>
                  <a:pt x="21478" y="1056"/>
                </a:lnTo>
                <a:lnTo>
                  <a:pt x="21348" y="282"/>
                </a:lnTo>
                <a:lnTo>
                  <a:pt x="21188" y="0"/>
                </a:lnTo>
                <a:close/>
              </a:path>
            </a:pathLst>
          </a:custGeom>
          <a:solidFill>
            <a:srgbClr val="FF6600"/>
          </a:solidFill>
          <a:ln cap="flat" cmpd="sng">
            <a:noFill/>
            <a:prstDash val="solid"/>
            <a:miter/>
          </a:ln>
        </p:spPr>
      </p:sp>
      <p:pic>
        <p:nvPicPr>
          <p:cNvPr id="25" name="图片"/>
          <p:cNvPicPr>
            <a:picLocks/>
          </p:cNvPicPr>
          <p:nvPr/>
        </p:nvPicPr>
        <p:blipFill>
          <a:blip r:embed="rId5" cstate="print"/>
          <a:stretch>
            <a:fillRect/>
          </a:stretch>
        </p:blipFill>
        <p:spPr>
          <a:xfrm>
            <a:off x="3292554" y="282840"/>
            <a:ext cx="3375117" cy="569714"/>
          </a:xfrm>
          <a:prstGeom prst="rect">
            <a:avLst/>
          </a:prstGeom>
          <a:noFill/>
          <a:ln w="12700" cap="flat" cmpd="sng">
            <a:noFill/>
            <a:prstDash val="solid"/>
            <a:miter/>
          </a:ln>
        </p:spPr>
      </p:pic>
      <p:sp>
        <p:nvSpPr>
          <p:cNvPr id="26" name="文本框"/>
          <p:cNvSpPr>
            <a:spLocks noGrp="1"/>
          </p:cNvSpPr>
          <p:nvPr>
            <p:ph type="ftr" idx="5"/>
          </p:nvPr>
        </p:nvSpPr>
        <p:spPr>
          <a:xfrm>
            <a:off x="3419856" y="7228332"/>
            <a:ext cx="3218688"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endParaRPr>
          </a:p>
        </p:txBody>
      </p:sp>
      <p:sp>
        <p:nvSpPr>
          <p:cNvPr id="27" name="文本框"/>
          <p:cNvSpPr>
            <a:spLocks noGrp="1"/>
          </p:cNvSpPr>
          <p:nvPr>
            <p:ph type="dt" idx="6"/>
          </p:nvPr>
        </p:nvSpPr>
        <p:spPr>
          <a:xfrm>
            <a:off x="502919" y="7228332"/>
            <a:ext cx="2313432"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l"/>
            <a:endParaRPr lang="zh-CN" altLang="en-US">
              <a:solidFill>
                <a:srgbClr val="898989"/>
              </a:solidFill>
            </a:endParaRPr>
          </a:p>
        </p:txBody>
      </p:sp>
      <p:sp>
        <p:nvSpPr>
          <p:cNvPr id="28" name="文本框"/>
          <p:cNvSpPr>
            <a:spLocks noGrp="1"/>
          </p:cNvSpPr>
          <p:nvPr>
            <p:ph type="sldNum" idx="7"/>
          </p:nvPr>
        </p:nvSpPr>
        <p:spPr>
          <a:xfrm>
            <a:off x="7242048" y="7228332"/>
            <a:ext cx="2313432"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r"/>
            <a:fld id="{CAD2D6BD-DE1B-4B5F-8B41-2702339687B9}" type="slidenum">
              <a:rPr lang="en-US" altLang="zh-CN" sz="2400" b="0" i="0" u="none" strike="noStrike" kern="0" cap="none" spc="0" baseline="0">
                <a:solidFill>
                  <a:srgbClr val="898989"/>
                </a:solidFill>
                <a:latin typeface="Droid Sans"/>
                <a:ea typeface="Droid Sans"/>
                <a:cs typeface="Lucida Sans"/>
              </a:rPr>
              <a:t>‹#›</a:t>
            </a:fld>
            <a:endParaRPr lang="zh-CN" altLang="en-US">
              <a:solidFill>
                <a:srgbClr val="898989"/>
              </a:solidFill>
            </a:endParaRPr>
          </a:p>
        </p:txBody>
      </p:sp>
    </p:spTree>
    <p:extLst>
      <p:ext uri="{BB962C8B-B14F-4D97-AF65-F5344CB8AC3E}">
        <p14:creationId xmlns:p14="http://schemas.microsoft.com/office/powerpoint/2010/main" val="371440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94" name="文本框"/>
          <p:cNvSpPr>
            <a:spLocks noGrp="1"/>
          </p:cNvSpPr>
          <p:nvPr>
            <p:ph type="title"/>
          </p:nvPr>
        </p:nvSpPr>
        <p:spPr>
          <a:xfrm>
            <a:off x="754379" y="2409444"/>
            <a:ext cx="8549641" cy="1632204"/>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2300" b="1" i="0">
              <a:solidFill>
                <a:srgbClr val="375F92"/>
              </a:solidFill>
              <a:latin typeface="Palatino Linotype" charset="0"/>
              <a:cs typeface="Palatino Linotype" charset="0"/>
            </a:endParaRPr>
          </a:p>
        </p:txBody>
      </p:sp>
      <p:sp>
        <p:nvSpPr>
          <p:cNvPr id="95" name="文本框"/>
          <p:cNvSpPr>
            <a:spLocks noGrp="1"/>
          </p:cNvSpPr>
          <p:nvPr>
            <p:ph type="body" idx="4"/>
          </p:nvPr>
        </p:nvSpPr>
        <p:spPr>
          <a:xfrm>
            <a:off x="1508759" y="4352544"/>
            <a:ext cx="7040880" cy="1943100"/>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1950" b="1" i="0">
              <a:solidFill>
                <a:schemeClr val="tx1"/>
              </a:solidFill>
              <a:latin typeface="Palatino Linotype" charset="0"/>
              <a:cs typeface="Palatino Linotype" charset="0"/>
            </a:endParaRPr>
          </a:p>
        </p:txBody>
      </p:sp>
      <p:sp>
        <p:nvSpPr>
          <p:cNvPr id="96" name="文本框"/>
          <p:cNvSpPr>
            <a:spLocks noGrp="1"/>
          </p:cNvSpPr>
          <p:nvPr>
            <p:ph type="ftr" idx="5"/>
          </p:nvPr>
        </p:nvSpPr>
        <p:spPr>
          <a:xfrm>
            <a:off x="3419856" y="7228332"/>
            <a:ext cx="3218688"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endParaRPr>
          </a:p>
        </p:txBody>
      </p:sp>
      <p:sp>
        <p:nvSpPr>
          <p:cNvPr id="97" name="文本框"/>
          <p:cNvSpPr>
            <a:spLocks noGrp="1"/>
          </p:cNvSpPr>
          <p:nvPr>
            <p:ph type="dt" idx="6"/>
          </p:nvPr>
        </p:nvSpPr>
        <p:spPr>
          <a:xfrm>
            <a:off x="502919" y="7228332"/>
            <a:ext cx="2313432"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l"/>
            <a:endParaRPr lang="zh-CN" altLang="en-US">
              <a:solidFill>
                <a:srgbClr val="898989"/>
              </a:solidFill>
            </a:endParaRPr>
          </a:p>
        </p:txBody>
      </p:sp>
      <p:sp>
        <p:nvSpPr>
          <p:cNvPr id="98" name="文本框"/>
          <p:cNvSpPr>
            <a:spLocks noGrp="1"/>
          </p:cNvSpPr>
          <p:nvPr>
            <p:ph type="sldNum" idx="7"/>
          </p:nvPr>
        </p:nvSpPr>
        <p:spPr>
          <a:xfrm>
            <a:off x="7242048" y="7228332"/>
            <a:ext cx="2313432" cy="388619"/>
          </a:xfrm>
          <a:prstGeom prst="rect">
            <a:avLst/>
          </a:prstGeom>
          <a:noFill/>
          <a:ln cap="flat" cmpd="sng">
            <a:noFill/>
            <a:prstDash val="solid"/>
            <a:miter/>
          </a:ln>
        </p:spPr>
        <p:txBody>
          <a:bodyPr vert="horz" wrap="square" lIns="0" tIns="0" rIns="0" bIns="0" anchor="t" anchorCtr="0">
            <a:prstTxWarp prst="textNoShape">
              <a:avLst/>
            </a:prstTxWarp>
            <a:spAutoFit/>
          </a:bodyPr>
          <a:lstStyle/>
          <a:p>
            <a:pPr algn="r"/>
            <a:fld id="{CAD2D6BD-DE1B-4B5F-8B41-2702339687B9}" type="slidenum">
              <a:rPr lang="en-US" altLang="zh-CN" sz="2400" b="0" i="0" u="none" strike="noStrike" kern="0" cap="none" spc="0" baseline="0">
                <a:solidFill>
                  <a:srgbClr val="898989"/>
                </a:solidFill>
                <a:latin typeface="Droid Sans"/>
                <a:ea typeface="Droid Sans"/>
                <a:cs typeface="Lucida Sans"/>
              </a:rPr>
              <a:t>‹#›</a:t>
            </a:fld>
            <a:endParaRPr lang="zh-CN" altLang="en-US">
              <a:solidFill>
                <a:srgbClr val="898989"/>
              </a:solidFill>
            </a:endParaRPr>
          </a:p>
        </p:txBody>
      </p:sp>
    </p:spTree>
    <p:extLst>
      <p:ext uri="{BB962C8B-B14F-4D97-AF65-F5344CB8AC3E}">
        <p14:creationId xmlns:p14="http://schemas.microsoft.com/office/powerpoint/2010/main" val="1627263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title"/>
          </p:nvPr>
        </p:nvSpPr>
        <p:spPr>
          <a:xfrm>
            <a:off x="3830970" y="881554"/>
            <a:ext cx="2528570" cy="375284"/>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2300" b="1" i="0">
              <a:solidFill>
                <a:srgbClr val="375F92"/>
              </a:solidFill>
              <a:latin typeface="Palatino Linotype" charset="0"/>
              <a:cs typeface="Palatino Linotype" charset="0"/>
            </a:endParaRPr>
          </a:p>
        </p:txBody>
      </p:sp>
      <p:sp>
        <p:nvSpPr>
          <p:cNvPr id="3" name="文本框"/>
          <p:cNvSpPr>
            <a:spLocks noGrp="1"/>
          </p:cNvSpPr>
          <p:nvPr>
            <p:ph type="body" idx="1"/>
          </p:nvPr>
        </p:nvSpPr>
        <p:spPr>
          <a:xfrm>
            <a:off x="621187" y="1409149"/>
            <a:ext cx="8949055" cy="3294378"/>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1950" b="1" i="0">
              <a:solidFill>
                <a:schemeClr val="tx1"/>
              </a:solidFill>
              <a:latin typeface="Palatino Linotype" charset="0"/>
              <a:cs typeface="Palatino Linotype" charset="0"/>
            </a:endParaRPr>
          </a:p>
        </p:txBody>
      </p:sp>
      <p:sp>
        <p:nvSpPr>
          <p:cNvPr id="4" name="文本框"/>
          <p:cNvSpPr>
            <a:spLocks noGrp="1"/>
          </p:cNvSpPr>
          <p:nvPr>
            <p:ph type="ftr" idx="5"/>
          </p:nvPr>
        </p:nvSpPr>
        <p:spPr>
          <a:xfrm>
            <a:off x="3419856" y="7228332"/>
            <a:ext cx="3218688"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endParaRPr>
          </a:p>
        </p:txBody>
      </p:sp>
      <p:sp>
        <p:nvSpPr>
          <p:cNvPr id="5" name="文本框"/>
          <p:cNvSpPr>
            <a:spLocks noGrp="1"/>
          </p:cNvSpPr>
          <p:nvPr>
            <p:ph type="dt" idx="6"/>
          </p:nvPr>
        </p:nvSpPr>
        <p:spPr>
          <a:xfrm>
            <a:off x="502919"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l"/>
            <a:fld id="{CAD2D6BD-DE1B-4B5F-8B41-2702339687B9}" type="datetime1">
              <a:rPr lang="en-US" altLang="zh-CN">
                <a:solidFill>
                  <a:srgbClr val="898989"/>
                </a:solidFill>
              </a:rPr>
              <a:t>3/23/2026</a:t>
            </a:fld>
            <a:endParaRPr lang="zh-CN" altLang="en-US">
              <a:solidFill>
                <a:srgbClr val="898989"/>
              </a:solidFill>
            </a:endParaRPr>
          </a:p>
        </p:txBody>
      </p:sp>
      <p:sp>
        <p:nvSpPr>
          <p:cNvPr id="6" name="文本框"/>
          <p:cNvSpPr>
            <a:spLocks noGrp="1"/>
          </p:cNvSpPr>
          <p:nvPr>
            <p:ph type="sldNum" idx="7"/>
          </p:nvPr>
        </p:nvSpPr>
        <p:spPr>
          <a:xfrm>
            <a:off x="7242048"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r"/>
            <a:fld id="{CAD2D6BD-DE1B-4B5F-8B41-2702339687B9}" type="slidenum">
              <a:rPr lang="en-US" altLang="zh-CN" sz="2400" b="0" i="0" u="none" strike="noStrike" kern="0" cap="none" spc="0" baseline="0">
                <a:solidFill>
                  <a:srgbClr val="898989"/>
                </a:solidFill>
                <a:latin typeface="Droid Sans"/>
                <a:ea typeface="Droid Sans"/>
                <a:cs typeface="Lucida Sans"/>
              </a:rPr>
              <a:t>‹#›</a:t>
            </a:fld>
            <a:endParaRPr lang="zh-CN" altLang="en-US">
              <a:solidFill>
                <a:srgbClr val="898989"/>
              </a:solidFill>
            </a:endParaRPr>
          </a:p>
        </p:txBody>
      </p:sp>
    </p:spTree>
    <p:extLst>
      <p:ext uri="{BB962C8B-B14F-4D97-AF65-F5344CB8AC3E}">
        <p14:creationId xmlns:p14="http://schemas.microsoft.com/office/powerpoint/2010/main" val="179188957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lvl1pPr defTabSz="914400" fontAlgn="auto" hangingPunct="1">
        <a:buNone/>
        <a:defRPr sz="1800">
          <a:latin typeface="Calibri" charset="0"/>
          <a:ea typeface="宋体" charset="0"/>
          <a:cs typeface="Calibri" charset="0"/>
        </a:defRPr>
      </a:lvl1pPr>
    </p:titleStyle>
    <p:bodyStyle>
      <a:lvl1pPr marL="0" indent="0" defTabSz="914400" fontAlgn="auto" hangingPunct="1">
        <a:buNone/>
        <a:defRPr sz="1800">
          <a:latin typeface="Calibri" charset="0"/>
          <a:ea typeface="宋体" charset="0"/>
          <a:cs typeface="Calibri" charset="0"/>
        </a:defRPr>
      </a:lvl1pPr>
      <a:lvl2pPr marL="457200" indent="0" defTabSz="914400" fontAlgn="auto" hangingPunct="1">
        <a:buNone/>
        <a:defRPr sz="1800">
          <a:latin typeface="Calibri" charset="0"/>
          <a:ea typeface="宋体" charset="0"/>
          <a:cs typeface="Calibri" charset="0"/>
        </a:defRPr>
      </a:lvl2pPr>
      <a:lvl3pPr marL="914400" indent="0" defTabSz="914400" fontAlgn="auto" hangingPunct="1">
        <a:buNone/>
        <a:defRPr sz="1800">
          <a:latin typeface="Calibri" charset="0"/>
          <a:ea typeface="宋体" charset="0"/>
          <a:cs typeface="Calibri" charset="0"/>
        </a:defRPr>
      </a:lvl3pPr>
      <a:lvl4pPr marL="1371600" indent="0" defTabSz="914400" fontAlgn="auto" hangingPunct="1">
        <a:buNone/>
        <a:defRPr sz="1800">
          <a:latin typeface="Calibri" charset="0"/>
          <a:ea typeface="宋体" charset="0"/>
          <a:cs typeface="Calibri" charset="0"/>
        </a:defRPr>
      </a:lvl4pPr>
      <a:lvl5pPr marL="1828800" indent="0" defTabSz="914400" fontAlgn="auto" hangingPunct="1">
        <a:buNone/>
        <a:defRPr sz="1800">
          <a:latin typeface="Calibri" charset="0"/>
          <a:ea typeface="宋体" charset="0"/>
          <a:cs typeface="Calibri" charset="0"/>
        </a:defRPr>
      </a:lvl5pPr>
      <a:lvl6pPr marL="2286000" indent="0" defTabSz="914400" fontAlgn="auto" hangingPunct="1">
        <a:buNone/>
        <a:defRPr sz="1800">
          <a:latin typeface="Calibri" charset="0"/>
          <a:ea typeface="宋体" charset="0"/>
          <a:cs typeface="Calibri" charset="0"/>
        </a:defRPr>
      </a:lvl6pPr>
      <a:lvl7pPr marL="2743200" indent="0" defTabSz="914400" fontAlgn="auto" hangingPunct="1">
        <a:buNone/>
        <a:defRPr sz="1800">
          <a:latin typeface="Calibri" charset="0"/>
          <a:ea typeface="宋体" charset="0"/>
          <a:cs typeface="Calibri" charset="0"/>
        </a:defRPr>
      </a:lvl7pPr>
      <a:lvl8pPr marL="3200400" indent="0" defTabSz="914400" fontAlgn="auto" hangingPunct="1">
        <a:buNone/>
        <a:defRPr sz="1800">
          <a:latin typeface="Calibri" charset="0"/>
          <a:ea typeface="宋体" charset="0"/>
          <a:cs typeface="Calibri" charset="0"/>
        </a:defRPr>
      </a:lvl8pPr>
      <a:lvl9pPr marL="3200400" indent="0" defTabSz="914400" fontAlgn="auto" hangingPunct="1">
        <a:buNone/>
        <a:defRPr sz="1800">
          <a:latin typeface="Calibri" charset="0"/>
          <a:ea typeface="宋体" charset="0"/>
          <a:cs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7.png"/><Relationship Id="rId7"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10" Type="http://schemas.openxmlformats.org/officeDocument/2006/relationships/image" Target="../media/image16.jpeg"/><Relationship Id="rId4" Type="http://schemas.openxmlformats.org/officeDocument/2006/relationships/image" Target="../media/image2.png"/><Relationship Id="rId9"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7.png"/><Relationship Id="rId7"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7.png"/><Relationship Id="rId7"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7.png"/><Relationship Id="rId7"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7.png"/><Relationship Id="rId7"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8" name="图片"/>
          <p:cNvPicPr>
            <a:picLocks/>
          </p:cNvPicPr>
          <p:nvPr/>
        </p:nvPicPr>
        <p:blipFill>
          <a:blip r:embed="rId3" cstate="print"/>
          <a:stretch>
            <a:fillRect/>
          </a:stretch>
        </p:blipFill>
        <p:spPr>
          <a:xfrm>
            <a:off x="2876144" y="234805"/>
            <a:ext cx="4610910" cy="628649"/>
          </a:xfrm>
          <a:prstGeom prst="rect">
            <a:avLst/>
          </a:prstGeom>
          <a:noFill/>
          <a:ln w="12700" cap="flat" cmpd="sng">
            <a:noFill/>
            <a:prstDash val="solid"/>
            <a:miter/>
          </a:ln>
        </p:spPr>
      </p:pic>
      <p:sp>
        <p:nvSpPr>
          <p:cNvPr id="19" name="文本框"/>
          <p:cNvSpPr>
            <a:spLocks noGrp="1"/>
          </p:cNvSpPr>
          <p:nvPr>
            <p:ph type="title"/>
          </p:nvPr>
        </p:nvSpPr>
        <p:spPr>
          <a:xfrm>
            <a:off x="1447800" y="1076308"/>
            <a:ext cx="7467599" cy="1012585"/>
          </a:xfrm>
          <a:prstGeom prst="rect">
            <a:avLst/>
          </a:prstGeom>
          <a:noFill/>
          <a:ln w="12700" cap="flat" cmpd="sng">
            <a:noFill/>
            <a:prstDash val="solid"/>
            <a:miter/>
          </a:ln>
        </p:spPr>
        <p:txBody>
          <a:bodyPr vert="horz" wrap="square" lIns="0" tIns="11430" rIns="0" bIns="0" anchor="t" anchorCtr="0">
            <a:prstTxWarp prst="textNoShape">
              <a:avLst/>
            </a:prstTxWarp>
            <a:spAutoFit/>
          </a:bodyPr>
          <a:lstStyle/>
          <a:p>
            <a:pPr marL="12700" indent="0" algn="ctr">
              <a:lnSpc>
                <a:spcPct val="150000"/>
              </a:lnSpc>
              <a:spcBef>
                <a:spcPts val="90"/>
              </a:spcBef>
              <a:spcAft>
                <a:spcPts val="0"/>
              </a:spcAft>
              <a:buNone/>
            </a:pPr>
            <a:r>
              <a:rPr lang="en-US" altLang="zh-CN" sz="2400" b="1" spc="-10" dirty="0">
                <a:solidFill>
                  <a:srgbClr val="375F92"/>
                </a:solidFill>
                <a:latin typeface="Times New Roman" pitchFamily="18" charset="0"/>
                <a:cs typeface="Times New Roman" pitchFamily="18" charset="0"/>
              </a:rPr>
              <a:t>Data Mining</a:t>
            </a:r>
            <a:r>
              <a:rPr lang="en-US" altLang="zh-CN" sz="2400" b="1" i="0" u="none" strike="noStrike" kern="0" cap="none" spc="-10" baseline="0" dirty="0">
                <a:solidFill>
                  <a:srgbClr val="375F92"/>
                </a:solidFill>
                <a:latin typeface="Times New Roman" pitchFamily="18" charset="0"/>
                <a:ea typeface="宋体" charset="0"/>
                <a:cs typeface="Times New Roman" pitchFamily="18" charset="0"/>
              </a:rPr>
              <a:t> Capstone Project</a:t>
            </a:r>
            <a:r>
              <a:rPr lang="zh-CN" altLang="en-US" sz="2200" b="1" i="0" u="none" strike="noStrike" kern="0" cap="none" spc="-10" baseline="0" dirty="0">
                <a:solidFill>
                  <a:srgbClr val="375F92"/>
                </a:solidFill>
                <a:latin typeface="Times New Roman" pitchFamily="18" charset="0"/>
                <a:ea typeface="宋体" charset="0"/>
                <a:cs typeface="Times New Roman" pitchFamily="18" charset="0"/>
              </a:rPr>
              <a:t/>
            </a:r>
            <a:br>
              <a:rPr lang="zh-CN" altLang="en-US" sz="2200" b="1" i="0" u="none" strike="noStrike" kern="0" cap="none" spc="-10" baseline="0" dirty="0">
                <a:solidFill>
                  <a:srgbClr val="375F92"/>
                </a:solidFill>
                <a:latin typeface="Times New Roman" pitchFamily="18" charset="0"/>
                <a:ea typeface="宋体" charset="0"/>
                <a:cs typeface="Times New Roman" pitchFamily="18" charset="0"/>
              </a:rPr>
            </a:br>
            <a:r>
              <a:rPr lang="en-US" altLang="zh-CN" sz="2200" b="1" i="0" u="none" strike="noStrike" kern="0" cap="none" spc="-10" baseline="0" dirty="0">
                <a:solidFill>
                  <a:srgbClr val="375F92"/>
                </a:solidFill>
                <a:latin typeface="Times New Roman" pitchFamily="18" charset="0"/>
                <a:ea typeface="宋体" charset="0"/>
                <a:cs typeface="Times New Roman" pitchFamily="18" charset="0"/>
              </a:rPr>
              <a:t> </a:t>
            </a:r>
            <a:endParaRPr lang="zh-CN" altLang="en-US" sz="2200" b="1" i="0" u="none" strike="noStrike" kern="0" cap="none" spc="-10" baseline="0" dirty="0">
              <a:solidFill>
                <a:srgbClr val="375F92"/>
              </a:solidFill>
              <a:latin typeface="Times New Roman" pitchFamily="18" charset="0"/>
              <a:ea typeface="宋体" charset="0"/>
              <a:cs typeface="Times New Roman" pitchFamily="18" charset="0"/>
            </a:endParaRPr>
          </a:p>
        </p:txBody>
      </p:sp>
      <p:sp>
        <p:nvSpPr>
          <p:cNvPr id="20" name="文本框"/>
          <p:cNvSpPr>
            <a:spLocks noGrp="1"/>
          </p:cNvSpPr>
          <p:nvPr>
            <p:ph type="body" idx="1"/>
          </p:nvPr>
        </p:nvSpPr>
        <p:spPr>
          <a:xfrm>
            <a:off x="653494" y="2514600"/>
            <a:ext cx="8751412" cy="3792064"/>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0" indent="0" algn="ctr">
              <a:lnSpc>
                <a:spcPct val="100000"/>
              </a:lnSpc>
              <a:spcBef>
                <a:spcPts val="130"/>
              </a:spcBef>
              <a:spcAft>
                <a:spcPts val="0"/>
              </a:spcAft>
              <a:buNone/>
            </a:pPr>
            <a:r>
              <a:rPr lang="en-US" altLang="zh-CN" sz="2400" b="1" i="0" u="none" strike="noStrike" kern="0" cap="none" spc="0" baseline="0" dirty="0">
                <a:solidFill>
                  <a:schemeClr val="tx1"/>
                </a:solidFill>
                <a:latin typeface="Palatino Linotype" charset="0"/>
                <a:ea typeface="宋体" charset="0"/>
                <a:cs typeface="Palatino Linotype" charset="0"/>
              </a:rPr>
              <a:t>Library Management System</a:t>
            </a:r>
          </a:p>
          <a:p>
            <a:pPr marL="0" indent="0" algn="ctr">
              <a:lnSpc>
                <a:spcPct val="100000"/>
              </a:lnSpc>
              <a:spcBef>
                <a:spcPts val="130"/>
              </a:spcBef>
              <a:spcAft>
                <a:spcPts val="0"/>
              </a:spcAft>
              <a:buNone/>
            </a:pPr>
            <a:endParaRPr lang="en-US" altLang="zh-CN" sz="1950" b="1" i="0" u="none" strike="noStrike" kern="0" cap="none" spc="0" baseline="0" dirty="0">
              <a:solidFill>
                <a:srgbClr val="FF0000"/>
              </a:solidFill>
              <a:latin typeface="Times New Roman" pitchFamily="18" charset="0"/>
              <a:ea typeface="宋体" charset="0"/>
              <a:cs typeface="Times New Roman" pitchFamily="18" charset="0"/>
            </a:endParaRPr>
          </a:p>
          <a:p>
            <a:pPr marL="0" indent="0" algn="ctr">
              <a:lnSpc>
                <a:spcPct val="100000"/>
              </a:lnSpc>
              <a:spcBef>
                <a:spcPts val="130"/>
              </a:spcBef>
              <a:spcAft>
                <a:spcPts val="0"/>
              </a:spcAft>
              <a:buNone/>
            </a:pPr>
            <a:r>
              <a:rPr lang="en-US" altLang="zh-CN" sz="2200" b="1" i="0" u="none" strike="noStrike" kern="0" cap="none" spc="0" baseline="0" dirty="0">
                <a:solidFill>
                  <a:srgbClr val="FF0000"/>
                </a:solidFill>
                <a:latin typeface="Times New Roman" pitchFamily="18" charset="0"/>
                <a:ea typeface="宋体" charset="0"/>
                <a:cs typeface="Times New Roman" pitchFamily="18" charset="0"/>
              </a:rPr>
              <a:t>Presented</a:t>
            </a:r>
            <a:r>
              <a:rPr lang="en-US" altLang="zh-CN" sz="2200" b="1" i="0" u="none" strike="noStrike" kern="0" cap="none" spc="80" baseline="0" dirty="0">
                <a:solidFill>
                  <a:srgbClr val="FF0000"/>
                </a:solidFill>
                <a:latin typeface="Times New Roman" pitchFamily="18" charset="0"/>
                <a:ea typeface="宋体" charset="0"/>
                <a:cs typeface="Times New Roman" pitchFamily="18" charset="0"/>
              </a:rPr>
              <a:t> </a:t>
            </a:r>
            <a:r>
              <a:rPr lang="en-US" altLang="zh-CN" sz="2200" b="1" i="0" u="none" strike="noStrike" kern="0" cap="none" spc="-25" baseline="0" dirty="0">
                <a:solidFill>
                  <a:srgbClr val="FF0000"/>
                </a:solidFill>
                <a:latin typeface="Times New Roman" pitchFamily="18" charset="0"/>
                <a:ea typeface="宋体" charset="0"/>
                <a:cs typeface="Times New Roman" pitchFamily="18" charset="0"/>
              </a:rPr>
              <a:t>by</a:t>
            </a:r>
          </a:p>
          <a:p>
            <a:pPr marL="3810" algn="ctr">
              <a:spcBef>
                <a:spcPts val="750"/>
              </a:spcBef>
            </a:pPr>
            <a:r>
              <a:rPr lang="en-IN" sz="2400" b="1" dirty="0">
                <a:latin typeface="Times New Roman" panose="02020603050405020304" pitchFamily="18" charset="0"/>
                <a:cs typeface="Times New Roman" panose="02020603050405020304" pitchFamily="18" charset="0"/>
              </a:rPr>
              <a:t>N. Kavya Priya (24B11AI294) </a:t>
            </a:r>
          </a:p>
          <a:p>
            <a:pPr marL="3810" algn="ctr">
              <a:spcBef>
                <a:spcPts val="750"/>
              </a:spcBef>
            </a:pPr>
            <a:r>
              <a:rPr lang="en-IN" sz="2400" b="1" dirty="0">
                <a:latin typeface="Times New Roman" panose="02020603050405020304" pitchFamily="18" charset="0"/>
                <a:cs typeface="Times New Roman" panose="02020603050405020304" pitchFamily="18" charset="0"/>
              </a:rPr>
              <a:t>B. Anushka(24B11AI037) </a:t>
            </a:r>
          </a:p>
          <a:p>
            <a:pPr marL="3810" algn="ctr">
              <a:spcBef>
                <a:spcPts val="750"/>
              </a:spcBef>
            </a:pPr>
            <a:r>
              <a:rPr lang="en-IN" sz="2400" b="1" dirty="0">
                <a:latin typeface="Times New Roman" panose="02020603050405020304" pitchFamily="18" charset="0"/>
                <a:cs typeface="Times New Roman" panose="02020603050405020304" pitchFamily="18" charset="0"/>
              </a:rPr>
              <a:t>G. Lasya Priya (24B11AI111) </a:t>
            </a:r>
          </a:p>
          <a:p>
            <a:pPr marL="3810" algn="ctr">
              <a:spcBef>
                <a:spcPts val="750"/>
              </a:spcBef>
            </a:pPr>
            <a:endParaRPr lang="en-IN" sz="2400" dirty="0">
              <a:latin typeface="Times New Roman" panose="02020603050405020304" pitchFamily="18" charset="0"/>
              <a:cs typeface="Times New Roman" panose="02020603050405020304" pitchFamily="18" charset="0"/>
            </a:endParaRPr>
          </a:p>
          <a:p>
            <a:pPr marL="3810" algn="ctr">
              <a:spcBef>
                <a:spcPts val="750"/>
              </a:spcBef>
            </a:pPr>
            <a:r>
              <a:rPr lang="en-IN" sz="2400" b="1" dirty="0">
                <a:solidFill>
                  <a:schemeClr val="accent6">
                    <a:lumMod val="50000"/>
                  </a:schemeClr>
                </a:solidFill>
                <a:latin typeface="Times New Roman" panose="02020603050405020304" pitchFamily="18" charset="0"/>
                <a:cs typeface="Times New Roman" panose="02020603050405020304" pitchFamily="18" charset="0"/>
              </a:rPr>
              <a:t>Department of Artificial Intelligence &amp; Machine </a:t>
            </a:r>
            <a:r>
              <a:rPr lang="en-IN" sz="2400" b="1" dirty="0" err="1">
                <a:solidFill>
                  <a:schemeClr val="accent6">
                    <a:lumMod val="50000"/>
                  </a:schemeClr>
                </a:solidFill>
                <a:latin typeface="Times New Roman" panose="02020603050405020304" pitchFamily="18" charset="0"/>
                <a:cs typeface="Times New Roman" panose="02020603050405020304" pitchFamily="18" charset="0"/>
              </a:rPr>
              <a:t>Learnin</a:t>
            </a:r>
            <a:r>
              <a:rPr lang="en-US" sz="2400" b="1" spc="-10" dirty="0">
                <a:solidFill>
                  <a:schemeClr val="accent6">
                    <a:lumMod val="50000"/>
                  </a:schemeClr>
                </a:solidFill>
                <a:latin typeface="Times New Roman" panose="02020603050405020304" pitchFamily="18" charset="0"/>
                <a:cs typeface="Times New Roman" pitchFamily="18" charset="0"/>
              </a:rPr>
              <a:t>g</a:t>
            </a:r>
            <a:r>
              <a:rPr lang="en-US" altLang="zh-CN" sz="2400" b="1" i="0" u="none" strike="noStrike" kern="0" cap="none" spc="-10" baseline="0" dirty="0">
                <a:solidFill>
                  <a:schemeClr val="accent6">
                    <a:lumMod val="50000"/>
                  </a:schemeClr>
                </a:solidFill>
                <a:latin typeface="Times New Roman" panose="02020603050405020304" pitchFamily="18" charset="0"/>
                <a:cs typeface="Times New Roman" pitchFamily="18" charset="0"/>
              </a:rPr>
              <a:t>  </a:t>
            </a:r>
          </a:p>
          <a:p>
            <a:pPr marL="1270" indent="0" algn="ctr">
              <a:lnSpc>
                <a:spcPct val="100000"/>
              </a:lnSpc>
              <a:spcBef>
                <a:spcPts val="993"/>
              </a:spcBef>
              <a:spcAft>
                <a:spcPts val="0"/>
              </a:spcAft>
              <a:buNone/>
            </a:pPr>
            <a:endParaRPr lang="zh-CN" altLang="en-US" sz="1650" b="1" i="0" u="none" strike="noStrike" kern="0" cap="none" spc="-10" baseline="0" dirty="0">
              <a:solidFill>
                <a:srgbClr val="943735"/>
              </a:solidFill>
              <a:latin typeface="Times New Roman" pitchFamily="18" charset="0"/>
              <a:ea typeface="宋体" charset="0"/>
              <a:cs typeface="Times New Roman" pitchFamily="18" charset="0"/>
            </a:endParaRPr>
          </a:p>
        </p:txBody>
      </p:sp>
    </p:spTree>
    <p:extLst>
      <p:ext uri="{BB962C8B-B14F-4D97-AF65-F5344CB8AC3E}">
        <p14:creationId xmlns:p14="http://schemas.microsoft.com/office/powerpoint/2010/main" val="66016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9" name="图片"/>
          <p:cNvPicPr>
            <a:picLocks/>
          </p:cNvPicPr>
          <p:nvPr/>
        </p:nvPicPr>
        <p:blipFill>
          <a:blip r:embed="rId3" cstate="print"/>
          <a:stretch>
            <a:fillRect/>
          </a:stretch>
        </p:blipFill>
        <p:spPr>
          <a:xfrm>
            <a:off x="290750" y="204311"/>
            <a:ext cx="1163002" cy="424338"/>
          </a:xfrm>
          <a:prstGeom prst="rect">
            <a:avLst/>
          </a:prstGeom>
          <a:noFill/>
          <a:ln w="12700" cap="flat" cmpd="sng">
            <a:noFill/>
            <a:prstDash val="solid"/>
            <a:miter/>
          </a:ln>
        </p:spPr>
      </p:pic>
      <p:sp>
        <p:nvSpPr>
          <p:cNvPr id="30" name="矩形"/>
          <p:cNvSpPr>
            <a:spLocks/>
          </p:cNvSpPr>
          <p:nvPr/>
        </p:nvSpPr>
        <p:spPr>
          <a:xfrm>
            <a:off x="1258220" y="1497893"/>
            <a:ext cx="3032125" cy="3496310"/>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389890" indent="-377190" algn="l">
              <a:lnSpc>
                <a:spcPct val="100000"/>
              </a:lnSpc>
              <a:spcBef>
                <a:spcPts val="130"/>
              </a:spcBef>
              <a:spcAft>
                <a:spcPts val="0"/>
              </a:spcAft>
              <a:buClrTx/>
              <a:buAutoNum type="arabicPeriod"/>
              <a:tabLst>
                <a:tab pos="389890" algn="l"/>
              </a:tabLst>
            </a:pPr>
            <a:r>
              <a:rPr lang="en-US" altLang="zh-CN" sz="2400" b="0" i="0" u="none" strike="noStrike" kern="0" cap="none" spc="-10" baseline="0" dirty="0">
                <a:solidFill>
                  <a:schemeClr val="tx1"/>
                </a:solidFill>
                <a:latin typeface="Times New Roman" pitchFamily="18" charset="0"/>
                <a:ea typeface="Droid Sans"/>
                <a:cs typeface="Times New Roman" pitchFamily="18" charset="0"/>
              </a:rPr>
              <a:t>Abstract</a:t>
            </a:r>
            <a:endParaRPr lang="en-US" altLang="zh-CN" sz="2400" b="0" i="0" u="none" strike="noStrike" kern="0" cap="none" spc="0" baseline="0" dirty="0">
              <a:solidFill>
                <a:schemeClr val="tx1"/>
              </a:solidFill>
              <a:latin typeface="Times New Roman" pitchFamily="18" charset="0"/>
              <a:ea typeface="Droid Sans"/>
              <a:cs typeface="Times New Roman" pitchFamily="18" charset="0"/>
            </a:endParaRPr>
          </a:p>
          <a:p>
            <a:pPr marL="389890" indent="-377190" algn="l">
              <a:lnSpc>
                <a:spcPct val="100000"/>
              </a:lnSpc>
              <a:spcBef>
                <a:spcPts val="2060"/>
              </a:spcBef>
              <a:spcAft>
                <a:spcPts val="0"/>
              </a:spcAft>
              <a:buClrTx/>
              <a:buAutoNum type="arabicPeriod"/>
              <a:tabLst>
                <a:tab pos="389890" algn="l"/>
              </a:tabLst>
            </a:pPr>
            <a:r>
              <a:rPr lang="en-US" altLang="zh-CN" sz="2400" b="0" i="0" u="none" strike="noStrike" kern="0" cap="none" spc="0" baseline="0" dirty="0">
                <a:solidFill>
                  <a:schemeClr val="tx1"/>
                </a:solidFill>
                <a:latin typeface="Times New Roman" pitchFamily="18" charset="0"/>
                <a:ea typeface="Droid Sans"/>
                <a:cs typeface="Times New Roman" pitchFamily="18" charset="0"/>
              </a:rPr>
              <a:t>Introduction</a:t>
            </a:r>
          </a:p>
          <a:p>
            <a:pPr marL="389890" indent="-377190" algn="l">
              <a:lnSpc>
                <a:spcPct val="100000"/>
              </a:lnSpc>
              <a:spcBef>
                <a:spcPts val="2060"/>
              </a:spcBef>
              <a:spcAft>
                <a:spcPts val="0"/>
              </a:spcAft>
              <a:buClrTx/>
              <a:buAutoNum type="arabicPeriod"/>
              <a:tabLst>
                <a:tab pos="389890" algn="l"/>
              </a:tabLst>
            </a:pPr>
            <a:r>
              <a:rPr lang="en-US" altLang="zh-CN" sz="2400" b="0" i="0" u="none" strike="noStrike" kern="0" cap="none" spc="0" baseline="0" dirty="0">
                <a:solidFill>
                  <a:schemeClr val="tx1"/>
                </a:solidFill>
                <a:latin typeface="Times New Roman" pitchFamily="18" charset="0"/>
                <a:ea typeface="Droid Sans"/>
                <a:cs typeface="Times New Roman" pitchFamily="18" charset="0"/>
              </a:rPr>
              <a:t>Analysis</a:t>
            </a:r>
          </a:p>
          <a:p>
            <a:pPr marL="389890" indent="-377190" algn="l">
              <a:lnSpc>
                <a:spcPct val="100000"/>
              </a:lnSpc>
              <a:spcBef>
                <a:spcPts val="2060"/>
              </a:spcBef>
              <a:spcAft>
                <a:spcPts val="0"/>
              </a:spcAft>
              <a:buClrTx/>
              <a:buAutoNum type="arabicPeriod"/>
              <a:tabLst>
                <a:tab pos="389890" algn="l"/>
              </a:tabLst>
            </a:pPr>
            <a:r>
              <a:rPr lang="en-US" altLang="zh-CN" sz="2400" b="0" i="0" u="none" strike="noStrike" kern="0" cap="none" spc="0" baseline="0" dirty="0">
                <a:solidFill>
                  <a:schemeClr val="tx1"/>
                </a:solidFill>
                <a:latin typeface="Times New Roman" pitchFamily="18" charset="0"/>
                <a:ea typeface="Droid Sans"/>
                <a:cs typeface="Times New Roman" pitchFamily="18" charset="0"/>
              </a:rPr>
              <a:t>Requirements</a:t>
            </a:r>
          </a:p>
          <a:p>
            <a:pPr marL="389890" indent="-377190" algn="l">
              <a:lnSpc>
                <a:spcPct val="100000"/>
              </a:lnSpc>
              <a:spcBef>
                <a:spcPts val="2060"/>
              </a:spcBef>
              <a:spcAft>
                <a:spcPts val="0"/>
              </a:spcAft>
              <a:buClrTx/>
              <a:buAutoNum type="arabicPeriod"/>
              <a:tabLst>
                <a:tab pos="389890" algn="l"/>
              </a:tabLst>
            </a:pPr>
            <a:r>
              <a:rPr lang="en-US" altLang="zh-CN" sz="2400" b="0" i="0" u="none" strike="noStrike" kern="0" cap="none" spc="50" baseline="0" dirty="0">
                <a:solidFill>
                  <a:schemeClr val="tx1"/>
                </a:solidFill>
                <a:latin typeface="Times New Roman" pitchFamily="18" charset="0"/>
                <a:ea typeface="Droid Sans"/>
                <a:cs typeface="Times New Roman" pitchFamily="18" charset="0"/>
              </a:rPr>
              <a:t>Methodology</a:t>
            </a:r>
          </a:p>
          <a:p>
            <a:pPr marL="389890" indent="-377190" algn="l">
              <a:lnSpc>
                <a:spcPct val="100000"/>
              </a:lnSpc>
              <a:spcBef>
                <a:spcPts val="2060"/>
              </a:spcBef>
              <a:spcAft>
                <a:spcPts val="0"/>
              </a:spcAft>
              <a:buClrTx/>
              <a:buAutoNum type="arabicPeriod"/>
              <a:tabLst>
                <a:tab pos="389890" algn="l"/>
              </a:tabLst>
            </a:pPr>
            <a:r>
              <a:rPr lang="en-US" altLang="zh-CN" sz="2400" b="0" i="0" u="none" strike="noStrike" kern="0" cap="none" spc="50" baseline="0" dirty="0">
                <a:solidFill>
                  <a:schemeClr val="tx1"/>
                </a:solidFill>
                <a:latin typeface="Times New Roman" pitchFamily="18" charset="0"/>
                <a:ea typeface="Droid Sans"/>
                <a:cs typeface="Times New Roman" pitchFamily="18" charset="0"/>
              </a:rPr>
              <a:t>Conclusion</a:t>
            </a:r>
            <a:endParaRPr lang="zh-CN" altLang="en-US" sz="2400" b="0" i="0" u="none" strike="noStrike" kern="0" cap="none" spc="50" baseline="0" dirty="0">
              <a:solidFill>
                <a:schemeClr val="tx1"/>
              </a:solidFill>
              <a:latin typeface="Times New Roman" pitchFamily="18" charset="0"/>
              <a:ea typeface="Droid Sans"/>
              <a:cs typeface="Times New Roman" pitchFamily="18" charset="0"/>
            </a:endParaRPr>
          </a:p>
        </p:txBody>
      </p:sp>
      <p:grpSp>
        <p:nvGrpSpPr>
          <p:cNvPr id="35" name="组合"/>
          <p:cNvGrpSpPr>
            <a:grpSpLocks/>
          </p:cNvGrpSpPr>
          <p:nvPr/>
        </p:nvGrpSpPr>
        <p:grpSpPr>
          <a:xfrm>
            <a:off x="2438400" y="33670"/>
            <a:ext cx="5334000" cy="1198310"/>
            <a:chOff x="2438400" y="33670"/>
            <a:chExt cx="5334000" cy="1198310"/>
          </a:xfrm>
        </p:grpSpPr>
        <p:pic>
          <p:nvPicPr>
            <p:cNvPr id="31" name="图片"/>
            <p:cNvPicPr>
              <a:picLocks/>
            </p:cNvPicPr>
            <p:nvPr/>
          </p:nvPicPr>
          <p:blipFill>
            <a:blip r:embed="rId4" cstate="print"/>
            <a:stretch>
              <a:fillRect/>
            </a:stretch>
          </p:blipFill>
          <p:spPr>
            <a:xfrm>
              <a:off x="2438400" y="33670"/>
              <a:ext cx="5334000" cy="1198310"/>
            </a:xfrm>
            <a:prstGeom prst="rect">
              <a:avLst/>
            </a:prstGeom>
            <a:noFill/>
            <a:ln w="12700" cap="flat" cmpd="sng">
              <a:noFill/>
              <a:prstDash val="solid"/>
              <a:miter/>
            </a:ln>
          </p:spPr>
        </p:pic>
        <p:pic>
          <p:nvPicPr>
            <p:cNvPr id="32" name="图片"/>
            <p:cNvPicPr>
              <a:picLocks/>
            </p:cNvPicPr>
            <p:nvPr/>
          </p:nvPicPr>
          <p:blipFill>
            <a:blip r:embed="rId5" cstate="print"/>
            <a:stretch>
              <a:fillRect/>
            </a:stretch>
          </p:blipFill>
          <p:spPr>
            <a:xfrm>
              <a:off x="2495887" y="72961"/>
              <a:ext cx="5223079" cy="1092278"/>
            </a:xfrm>
            <a:prstGeom prst="rect">
              <a:avLst/>
            </a:prstGeom>
            <a:noFill/>
            <a:ln w="12700" cap="flat" cmpd="sng">
              <a:noFill/>
              <a:prstDash val="solid"/>
              <a:miter/>
            </a:ln>
          </p:spPr>
        </p:pic>
        <p:pic>
          <p:nvPicPr>
            <p:cNvPr id="33" name="图片"/>
            <p:cNvPicPr>
              <a:picLocks/>
            </p:cNvPicPr>
            <p:nvPr/>
          </p:nvPicPr>
          <p:blipFill>
            <a:blip r:embed="rId6" cstate="print"/>
            <a:stretch>
              <a:fillRect/>
            </a:stretch>
          </p:blipFill>
          <p:spPr>
            <a:xfrm>
              <a:off x="2627285" y="230071"/>
              <a:ext cx="4791984" cy="522564"/>
            </a:xfrm>
            <a:prstGeom prst="rect">
              <a:avLst/>
            </a:prstGeom>
            <a:noFill/>
            <a:ln w="12700" cap="flat" cmpd="sng">
              <a:noFill/>
              <a:prstDash val="solid"/>
              <a:miter/>
            </a:ln>
          </p:spPr>
        </p:pic>
        <p:sp>
          <p:nvSpPr>
            <p:cNvPr id="34" name="曲线"/>
            <p:cNvSpPr>
              <a:spLocks/>
            </p:cNvSpPr>
            <p:nvPr/>
          </p:nvSpPr>
          <p:spPr>
            <a:xfrm>
              <a:off x="2684771" y="269414"/>
              <a:ext cx="4681227" cy="416558"/>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sp>
        <p:nvSpPr>
          <p:cNvPr id="36" name="矩形"/>
          <p:cNvSpPr>
            <a:spLocks/>
          </p:cNvSpPr>
          <p:nvPr/>
        </p:nvSpPr>
        <p:spPr>
          <a:xfrm>
            <a:off x="3604543" y="286092"/>
            <a:ext cx="2853689" cy="349885"/>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ctr">
              <a:lnSpc>
                <a:spcPct val="100000"/>
              </a:lnSpc>
              <a:spcBef>
                <a:spcPts val="130"/>
              </a:spcBef>
              <a:spcAft>
                <a:spcPts val="0"/>
              </a:spcAft>
              <a:buNone/>
            </a:pPr>
            <a:r>
              <a:rPr lang="en-US" altLang="zh-CN" sz="2200" b="1" i="0" u="none" strike="noStrike" kern="0" cap="none" spc="0" baseline="0">
                <a:solidFill>
                  <a:schemeClr val="bg1"/>
                </a:solidFill>
                <a:latin typeface="Times New Roman" pitchFamily="18" charset="0"/>
                <a:ea typeface="宋体" charset="0"/>
                <a:cs typeface="Times New Roman" pitchFamily="18" charset="0"/>
              </a:rPr>
              <a:t>Presentation Outline</a:t>
            </a:r>
            <a:endParaRPr lang="zh-CN" altLang="en-US" sz="2200" b="1" i="0" u="none" strike="noStrike" kern="0" cap="none" spc="0" baseline="0">
              <a:solidFill>
                <a:schemeClr val="bg1"/>
              </a:solidFill>
              <a:latin typeface="Times New Roman" pitchFamily="18" charset="0"/>
              <a:ea typeface="宋体" charset="0"/>
              <a:cs typeface="Times New Roman" pitchFamily="18" charset="0"/>
            </a:endParaRPr>
          </a:p>
        </p:txBody>
      </p:sp>
    </p:spTree>
    <p:extLst>
      <p:ext uri="{BB962C8B-B14F-4D97-AF65-F5344CB8AC3E}">
        <p14:creationId xmlns:p14="http://schemas.microsoft.com/office/powerpoint/2010/main" val="27058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41" name="组合"/>
          <p:cNvGrpSpPr>
            <a:grpSpLocks/>
          </p:cNvGrpSpPr>
          <p:nvPr/>
        </p:nvGrpSpPr>
        <p:grpSpPr>
          <a:xfrm>
            <a:off x="2667000" y="53695"/>
            <a:ext cx="5103903" cy="1198311"/>
            <a:chOff x="2667000" y="53695"/>
            <a:chExt cx="5103903" cy="1198311"/>
          </a:xfrm>
        </p:grpSpPr>
        <p:pic>
          <p:nvPicPr>
            <p:cNvPr id="37" name="图片"/>
            <p:cNvPicPr>
              <a:picLocks/>
            </p:cNvPicPr>
            <p:nvPr/>
          </p:nvPicPr>
          <p:blipFill>
            <a:blip r:embed="rId3" cstate="print"/>
            <a:stretch>
              <a:fillRect/>
            </a:stretch>
          </p:blipFill>
          <p:spPr>
            <a:xfrm>
              <a:off x="2667000" y="53695"/>
              <a:ext cx="5103903" cy="1198311"/>
            </a:xfrm>
            <a:prstGeom prst="rect">
              <a:avLst/>
            </a:prstGeom>
            <a:noFill/>
            <a:ln w="12700" cap="flat" cmpd="sng">
              <a:noFill/>
              <a:prstDash val="solid"/>
              <a:miter/>
            </a:ln>
          </p:spPr>
        </p:pic>
        <p:pic>
          <p:nvPicPr>
            <p:cNvPr id="38" name="图片"/>
            <p:cNvPicPr>
              <a:picLocks/>
            </p:cNvPicPr>
            <p:nvPr/>
          </p:nvPicPr>
          <p:blipFill>
            <a:blip r:embed="rId4" cstate="print"/>
            <a:stretch>
              <a:fillRect/>
            </a:stretch>
          </p:blipFill>
          <p:spPr>
            <a:xfrm>
              <a:off x="2722007" y="92986"/>
              <a:ext cx="4997767" cy="1092279"/>
            </a:xfrm>
            <a:prstGeom prst="rect">
              <a:avLst/>
            </a:prstGeom>
            <a:noFill/>
            <a:ln w="12700" cap="flat" cmpd="sng">
              <a:noFill/>
              <a:prstDash val="solid"/>
              <a:miter/>
            </a:ln>
          </p:spPr>
        </p:pic>
        <p:pic>
          <p:nvPicPr>
            <p:cNvPr id="39" name="图片"/>
            <p:cNvPicPr>
              <a:picLocks/>
            </p:cNvPicPr>
            <p:nvPr/>
          </p:nvPicPr>
          <p:blipFill>
            <a:blip r:embed="rId5" cstate="print"/>
            <a:stretch>
              <a:fillRect/>
            </a:stretch>
          </p:blipFill>
          <p:spPr>
            <a:xfrm>
              <a:off x="2847737" y="250096"/>
              <a:ext cx="4585268" cy="522565"/>
            </a:xfrm>
            <a:prstGeom prst="rect">
              <a:avLst/>
            </a:prstGeom>
            <a:noFill/>
            <a:ln w="12700" cap="flat" cmpd="sng">
              <a:noFill/>
              <a:prstDash val="solid"/>
              <a:miter/>
            </a:ln>
          </p:spPr>
        </p:pic>
        <p:sp>
          <p:nvSpPr>
            <p:cNvPr id="40" name="曲线"/>
            <p:cNvSpPr>
              <a:spLocks/>
            </p:cNvSpPr>
            <p:nvPr/>
          </p:nvSpPr>
          <p:spPr>
            <a:xfrm>
              <a:off x="2902743" y="289439"/>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sp>
        <p:nvSpPr>
          <p:cNvPr id="42" name="文本框"/>
          <p:cNvSpPr>
            <a:spLocks noGrp="1"/>
          </p:cNvSpPr>
          <p:nvPr>
            <p:ph type="title"/>
          </p:nvPr>
        </p:nvSpPr>
        <p:spPr>
          <a:xfrm>
            <a:off x="4343400" y="325191"/>
            <a:ext cx="2167890" cy="311784"/>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en-US" altLang="zh-CN" sz="1950" b="1" i="0" u="none" strike="noStrike" kern="0" cap="none" spc="0" baseline="0">
                <a:solidFill>
                  <a:schemeClr val="bg1"/>
                </a:solidFill>
                <a:latin typeface="Times New Roman" pitchFamily="18" charset="0"/>
                <a:ea typeface="宋体" charset="0"/>
                <a:cs typeface="Times New Roman" pitchFamily="18" charset="0"/>
              </a:rPr>
              <a:t>ABSTRACT</a:t>
            </a:r>
            <a:endParaRPr lang="zh-CN" altLang="en-US" sz="1950" b="1" i="0" u="none" strike="noStrike" kern="0" cap="none" spc="0" baseline="0">
              <a:solidFill>
                <a:schemeClr val="bg1"/>
              </a:solidFill>
              <a:latin typeface="Times New Roman" pitchFamily="18" charset="0"/>
              <a:ea typeface="宋体" charset="0"/>
              <a:cs typeface="Times New Roman" pitchFamily="18" charset="0"/>
            </a:endParaRPr>
          </a:p>
        </p:txBody>
      </p:sp>
      <p:pic>
        <p:nvPicPr>
          <p:cNvPr id="43"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3" name="TextBox 2">
            <a:extLst>
              <a:ext uri="{FF2B5EF4-FFF2-40B4-BE49-F238E27FC236}">
                <a16:creationId xmlns:a16="http://schemas.microsoft.com/office/drawing/2014/main" id="{039EE80A-2940-87BF-0A84-2CB50BE2B827}"/>
              </a:ext>
            </a:extLst>
          </p:cNvPr>
          <p:cNvSpPr txBox="1"/>
          <p:nvPr/>
        </p:nvSpPr>
        <p:spPr>
          <a:xfrm>
            <a:off x="528575" y="1005800"/>
            <a:ext cx="8245145" cy="5509200"/>
          </a:xfrm>
          <a:prstGeom prst="rect">
            <a:avLst/>
          </a:prstGeom>
          <a:noFill/>
        </p:spPr>
        <p:txBody>
          <a:bodyPr wrap="square">
            <a:spAutoFit/>
          </a:bodyPr>
          <a:lstStyle/>
          <a:p>
            <a:r>
              <a:rPr lang="en-US" sz="2800" dirty="0">
                <a:latin typeface="Times New Roman" panose="02020603050405020304" pitchFamily="18" charset="0"/>
              </a:rPr>
              <a:t> </a:t>
            </a:r>
            <a:r>
              <a:rPr lang="en-US" b="1" dirty="0">
                <a:latin typeface="Times New Roman" panose="02020603050405020304" pitchFamily="18" charset="0"/>
              </a:rPr>
              <a:t>1</a:t>
            </a:r>
            <a:r>
              <a:rPr lang="en-US" sz="2000" b="1" dirty="0">
                <a:latin typeface="Times New Roman" panose="02020603050405020304" pitchFamily="18" charset="0"/>
              </a:rPr>
              <a:t>.Centralized Data Management:</a:t>
            </a:r>
          </a:p>
          <a:p>
            <a:r>
              <a:rPr lang="en-US" sz="2000" dirty="0">
                <a:latin typeface="Times New Roman" panose="02020603050405020304" pitchFamily="18" charset="0"/>
              </a:rPr>
              <a:t>The system combines Book, Student, and Issue–Return datasets into one centralized database. This ensures accurate record keeping, avoids duplication, and allows quick access to information.</a:t>
            </a:r>
          </a:p>
          <a:p>
            <a:r>
              <a:rPr lang="en-US" sz="2000" b="1" dirty="0">
                <a:latin typeface="Times New Roman" panose="02020603050405020304" pitchFamily="18" charset="0"/>
              </a:rPr>
              <a:t>2. Automation of Library Operations:</a:t>
            </a:r>
          </a:p>
          <a:p>
            <a:r>
              <a:rPr lang="en-US" sz="2000" dirty="0">
                <a:latin typeface="Times New Roman" panose="02020603050405020304" pitchFamily="18" charset="0"/>
              </a:rPr>
              <a:t>It automates book issuing, returning, availability updates, overdue tracking, and fine calculation. This reduces manual work, saves time, and minimizes errors.</a:t>
            </a:r>
          </a:p>
          <a:p>
            <a:r>
              <a:rPr lang="en-US" sz="2000" b="1" dirty="0">
                <a:latin typeface="Times New Roman" panose="02020603050405020304" pitchFamily="18" charset="0"/>
              </a:rPr>
              <a:t>3. User Review and Recommendation System:</a:t>
            </a:r>
          </a:p>
          <a:p>
            <a:r>
              <a:rPr lang="en-US" sz="2000" dirty="0">
                <a:latin typeface="Times New Roman" panose="02020603050405020304" pitchFamily="18" charset="0"/>
              </a:rPr>
              <a:t>Students can rate and review books after reading them. These reviews help new users choose better books and highlight popular and highly rated resources.</a:t>
            </a:r>
          </a:p>
          <a:p>
            <a:r>
              <a:rPr lang="en-US" sz="2000" dirty="0">
                <a:latin typeface="Times New Roman" panose="02020603050405020304" pitchFamily="18" charset="0"/>
              </a:rPr>
              <a:t>4.</a:t>
            </a:r>
            <a:r>
              <a:rPr lang="en-US" sz="2000" b="1" dirty="0">
                <a:latin typeface="Times New Roman" panose="02020603050405020304" pitchFamily="18" charset="0"/>
              </a:rPr>
              <a:t> Analytical Insights and Decision Support:</a:t>
            </a:r>
          </a:p>
          <a:p>
            <a:r>
              <a:rPr lang="en-US" sz="2000" dirty="0">
                <a:latin typeface="Times New Roman" panose="02020603050405020304" pitchFamily="18" charset="0"/>
              </a:rPr>
              <a:t>The system provides reports on frequently borrowed books, user activity, and demand trends. These insights help librarians make better planning and management decisions</a:t>
            </a:r>
            <a:r>
              <a:rPr lang="en-US" sz="2000" dirty="0"/>
              <a:t>.</a:t>
            </a:r>
          </a:p>
          <a:p>
            <a:endParaRPr lang="en-US" dirty="0">
              <a:latin typeface="Times New Roman" panose="02020603050405020304" pitchFamily="18" charset="0"/>
            </a:endParaRPr>
          </a:p>
        </p:txBody>
      </p:sp>
    </p:spTree>
    <p:extLst>
      <p:ext uri="{BB962C8B-B14F-4D97-AF65-F5344CB8AC3E}">
        <p14:creationId xmlns:p14="http://schemas.microsoft.com/office/powerpoint/2010/main" val="50145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9" name="组合"/>
          <p:cNvGrpSpPr>
            <a:grpSpLocks/>
          </p:cNvGrpSpPr>
          <p:nvPr/>
        </p:nvGrpSpPr>
        <p:grpSpPr>
          <a:xfrm>
            <a:off x="2667000" y="85008"/>
            <a:ext cx="5103903" cy="1198311"/>
            <a:chOff x="2667000" y="85008"/>
            <a:chExt cx="5103903" cy="1198311"/>
          </a:xfrm>
        </p:grpSpPr>
        <p:pic>
          <p:nvPicPr>
            <p:cNvPr id="45" name="图片"/>
            <p:cNvPicPr>
              <a:picLocks/>
            </p:cNvPicPr>
            <p:nvPr/>
          </p:nvPicPr>
          <p:blipFill>
            <a:blip r:embed="rId3" cstate="print"/>
            <a:stretch>
              <a:fillRect/>
            </a:stretch>
          </p:blipFill>
          <p:spPr>
            <a:xfrm>
              <a:off x="2667000" y="85008"/>
              <a:ext cx="5103903" cy="1198311"/>
            </a:xfrm>
            <a:prstGeom prst="rect">
              <a:avLst/>
            </a:prstGeom>
            <a:noFill/>
            <a:ln w="12700" cap="flat" cmpd="sng">
              <a:noFill/>
              <a:prstDash val="solid"/>
              <a:miter/>
            </a:ln>
          </p:spPr>
        </p:pic>
        <p:pic>
          <p:nvPicPr>
            <p:cNvPr id="46" name="图片"/>
            <p:cNvPicPr>
              <a:picLocks/>
            </p:cNvPicPr>
            <p:nvPr/>
          </p:nvPicPr>
          <p:blipFill>
            <a:blip r:embed="rId4" cstate="print"/>
            <a:stretch>
              <a:fillRect/>
            </a:stretch>
          </p:blipFill>
          <p:spPr>
            <a:xfrm>
              <a:off x="2722007" y="124299"/>
              <a:ext cx="4997767" cy="1092279"/>
            </a:xfrm>
            <a:prstGeom prst="rect">
              <a:avLst/>
            </a:prstGeom>
            <a:noFill/>
            <a:ln w="12700" cap="flat" cmpd="sng">
              <a:noFill/>
              <a:prstDash val="solid"/>
              <a:miter/>
            </a:ln>
          </p:spPr>
        </p:pic>
        <p:pic>
          <p:nvPicPr>
            <p:cNvPr id="47" name="图片"/>
            <p:cNvPicPr>
              <a:picLocks/>
            </p:cNvPicPr>
            <p:nvPr/>
          </p:nvPicPr>
          <p:blipFill>
            <a:blip r:embed="rId5" cstate="print"/>
            <a:stretch>
              <a:fillRect/>
            </a:stretch>
          </p:blipFill>
          <p:spPr>
            <a:xfrm>
              <a:off x="2847737" y="281409"/>
              <a:ext cx="4585268" cy="522565"/>
            </a:xfrm>
            <a:prstGeom prst="rect">
              <a:avLst/>
            </a:prstGeom>
            <a:noFill/>
            <a:ln w="12700" cap="flat" cmpd="sng">
              <a:noFill/>
              <a:prstDash val="solid"/>
              <a:miter/>
            </a:ln>
          </p:spPr>
        </p:pic>
        <p:sp>
          <p:nvSpPr>
            <p:cNvPr id="48" name="曲线"/>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txBody>
            <a:bodyPr/>
            <a:lstStyle/>
            <a:p>
              <a:endParaRPr lang="en-IN" dirty="0"/>
            </a:p>
          </p:txBody>
        </p:sp>
      </p:grpSp>
      <p:sp>
        <p:nvSpPr>
          <p:cNvPr id="50" name="矩形"/>
          <p:cNvSpPr>
            <a:spLocks/>
          </p:cNvSpPr>
          <p:nvPr/>
        </p:nvSpPr>
        <p:spPr>
          <a:xfrm>
            <a:off x="3589000" y="319960"/>
            <a:ext cx="5029200" cy="39241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950" b="1" i="0" u="none" strike="noStrike" kern="0" cap="none" spc="0" baseline="0" dirty="0">
                <a:solidFill>
                  <a:schemeClr val="bg1"/>
                </a:solidFill>
                <a:latin typeface="Times New Roman" pitchFamily="18" charset="0"/>
                <a:ea typeface="Droid Sans"/>
                <a:cs typeface="Times New Roman" pitchFamily="18" charset="0"/>
              </a:rPr>
              <a:t>DATA PREPROCESSING</a:t>
            </a:r>
            <a:endParaRPr lang="zh-CN" altLang="en-US" sz="1950" b="1" i="0" u="none" strike="noStrike" kern="0" cap="none" spc="0" baseline="0" dirty="0">
              <a:solidFill>
                <a:schemeClr val="bg1"/>
              </a:solidFill>
              <a:latin typeface="Times New Roman" pitchFamily="18" charset="0"/>
              <a:ea typeface="Droid Sans"/>
              <a:cs typeface="Times New Roman" pitchFamily="18" charset="0"/>
            </a:endParaRPr>
          </a:p>
        </p:txBody>
      </p:sp>
      <p:pic>
        <p:nvPicPr>
          <p:cNvPr id="51"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52" name="矩形"/>
          <p:cNvSpPr>
            <a:spLocks/>
          </p:cNvSpPr>
          <p:nvPr/>
        </p:nvSpPr>
        <p:spPr>
          <a:xfrm>
            <a:off x="723900" y="1437175"/>
            <a:ext cx="8610600" cy="162005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342900" indent="-342900">
              <a:lnSpc>
                <a:spcPct val="200000"/>
              </a:lnSpc>
              <a:buFont typeface="Arial" panose="020B0604020202020204" pitchFamily="34" charset="0"/>
              <a:buChar char="•"/>
            </a:pPr>
            <a:endParaRPr lang="en-US" sz="2000" dirty="0">
              <a:latin typeface="Times New Roman" panose="02020603050405020304" pitchFamily="18" charset="0"/>
            </a:endParaRPr>
          </a:p>
          <a:p>
            <a:pPr algn="just">
              <a:lnSpc>
                <a:spcPct val="150000"/>
              </a:lnSpc>
              <a:spcBef>
                <a:spcPts val="0"/>
              </a:spcBef>
              <a:spcAft>
                <a:spcPts val="0"/>
              </a:spcAft>
            </a:pPr>
            <a:endParaRPr lang="en-US" altLang="zh-CN" sz="2200" b="0" i="0" u="none" strike="noStrike" kern="0" cap="none" spc="0" baseline="0" dirty="0">
              <a:solidFill>
                <a:schemeClr val="tx1"/>
              </a:solidFill>
              <a:latin typeface="Times New Roman" pitchFamily="18" charset="0"/>
              <a:ea typeface="Droid Sans"/>
              <a:cs typeface="Times New Roman" pitchFamily="18" charset="0"/>
            </a:endParaRPr>
          </a:p>
          <a:p>
            <a:pPr marL="342900" indent="-342900" algn="just">
              <a:lnSpc>
                <a:spcPct val="150000"/>
              </a:lnSpc>
              <a:spcBef>
                <a:spcPts val="0"/>
              </a:spcBef>
              <a:spcAft>
                <a:spcPts val="0"/>
              </a:spcAft>
              <a:buFont typeface="Arial" pitchFamily="34" charset="0"/>
              <a:buChar char="•"/>
            </a:pPr>
            <a:endParaRPr lang="zh-CN" altLang="en-US" sz="2000" b="0" i="0" u="none" strike="noStrike" kern="0" cap="none" spc="0" baseline="0" dirty="0">
              <a:solidFill>
                <a:schemeClr val="tx1"/>
              </a:solidFill>
              <a:latin typeface="Droid Sans"/>
              <a:ea typeface="Droid Sans"/>
              <a:cs typeface="Lucida Sans"/>
            </a:endParaRPr>
          </a:p>
        </p:txBody>
      </p:sp>
      <p:sp>
        <p:nvSpPr>
          <p:cNvPr id="3" name="TextBox 2">
            <a:extLst>
              <a:ext uri="{FF2B5EF4-FFF2-40B4-BE49-F238E27FC236}">
                <a16:creationId xmlns:a16="http://schemas.microsoft.com/office/drawing/2014/main" id="{2C13BE0A-B34E-9371-6BF1-C2C654F81ACF}"/>
              </a:ext>
            </a:extLst>
          </p:cNvPr>
          <p:cNvSpPr txBox="1"/>
          <p:nvPr/>
        </p:nvSpPr>
        <p:spPr>
          <a:xfrm>
            <a:off x="235812" y="808031"/>
            <a:ext cx="9474038" cy="6247864"/>
          </a:xfrm>
          <a:prstGeom prst="rect">
            <a:avLst/>
          </a:prstGeom>
          <a:noFill/>
        </p:spPr>
        <p:txBody>
          <a:bodyPr wrap="square">
            <a:spAutoFit/>
          </a:bodyPr>
          <a:lstStyle/>
          <a:p>
            <a:r>
              <a:rPr lang="en-US" sz="2000" b="1" dirty="0">
                <a:latin typeface="Times New Roman" panose="02020603050405020304" pitchFamily="18" charset="0"/>
              </a:rPr>
              <a:t>Data Preprocessing:</a:t>
            </a:r>
          </a:p>
          <a:p>
            <a:r>
              <a:rPr lang="en-US" sz="2000" dirty="0">
                <a:latin typeface="Times New Roman" panose="02020603050405020304" pitchFamily="18" charset="0"/>
              </a:rPr>
              <a:t>Data preprocessing plays a vital role in transforming raw and unorganized library data into a clean, structured, and analysis-ready format. It ensures accuracy, consistency, and reliability across the system.</a:t>
            </a:r>
          </a:p>
          <a:p>
            <a:r>
              <a:rPr lang="en-US" sz="2000" b="1" dirty="0">
                <a:latin typeface="Times New Roman" panose="02020603050405020304" pitchFamily="18" charset="0"/>
              </a:rPr>
              <a:t>Student Details:</a:t>
            </a:r>
            <a:r>
              <a:rPr lang="en-US" sz="2000" dirty="0">
                <a:latin typeface="Times New Roman" panose="02020603050405020304" pitchFamily="18" charset="0"/>
              </a:rPr>
              <a:t> This dataset stores essential student information such as Name, Student ID, Year of study, and other basic profile details required for identification and management.</a:t>
            </a:r>
          </a:p>
          <a:p>
            <a:r>
              <a:rPr lang="en-US" sz="2000" b="1" dirty="0">
                <a:latin typeface="Times New Roman" panose="02020603050405020304" pitchFamily="18" charset="0"/>
              </a:rPr>
              <a:t>Book Details:</a:t>
            </a:r>
            <a:r>
              <a:rPr lang="en-US" sz="2000" dirty="0">
                <a:latin typeface="Times New Roman" panose="02020603050405020304" pitchFamily="18" charset="0"/>
              </a:rPr>
              <a:t> The Books dataset maintains comprehensive records of all books available in the library, including relevant information needed for cataloging and tracking.</a:t>
            </a:r>
          </a:p>
          <a:p>
            <a:r>
              <a:rPr lang="en-US" sz="2000" b="1" dirty="0">
                <a:latin typeface="Times New Roman" panose="02020603050405020304" pitchFamily="18" charset="0"/>
              </a:rPr>
              <a:t>Issue–Return Details:</a:t>
            </a:r>
            <a:r>
              <a:rPr lang="en-US" sz="2000" dirty="0">
                <a:latin typeface="Times New Roman" panose="02020603050405020304" pitchFamily="18" charset="0"/>
              </a:rPr>
              <a:t> This dataset monitors borrowing transactions, including issue dates, return status, and fine calculations, helping manage the complete borrowing history efficiently</a:t>
            </a:r>
            <a:r>
              <a:rPr lang="en-US" sz="2000" dirty="0"/>
              <a:t>.</a:t>
            </a:r>
          </a:p>
          <a:p>
            <a:endParaRPr lang="en-US" sz="2000" dirty="0"/>
          </a:p>
          <a:p>
            <a:r>
              <a:rPr lang="en-US" sz="2000" b="1" dirty="0">
                <a:latin typeface="Times New Roman" panose="02020603050405020304" pitchFamily="18" charset="0"/>
              </a:rPr>
              <a:t>Data Cleaning (</a:t>
            </a:r>
            <a:r>
              <a:rPr lang="en-US" sz="2000" b="1" dirty="0" err="1">
                <a:latin typeface="Times New Roman" panose="02020603050405020304" pitchFamily="18" charset="0"/>
              </a:rPr>
              <a:t>dropna</a:t>
            </a:r>
            <a:r>
              <a:rPr lang="en-US" sz="2000" b="1" dirty="0">
                <a:latin typeface="Times New Roman" panose="02020603050405020304" pitchFamily="18" charset="0"/>
              </a:rPr>
              <a:t>):</a:t>
            </a:r>
          </a:p>
          <a:p>
            <a:r>
              <a:rPr lang="en-US" sz="2000" dirty="0">
                <a:latin typeface="Times New Roman" panose="02020603050405020304" pitchFamily="18" charset="0"/>
              </a:rPr>
              <a:t>Data cleaning prepares the dataset for analysis.</a:t>
            </a:r>
          </a:p>
          <a:p>
            <a:pPr>
              <a:buFont typeface="Arial" panose="020B0604020202020204" pitchFamily="34" charset="0"/>
              <a:buChar char="•"/>
            </a:pPr>
            <a:r>
              <a:rPr lang="en-IN" sz="2000" b="1" dirty="0">
                <a:latin typeface="Times New Roman" panose="02020603050405020304" pitchFamily="18" charset="0"/>
              </a:rPr>
              <a:t>Remove Nulls:</a:t>
            </a:r>
            <a:r>
              <a:rPr lang="en-IN" sz="2000" dirty="0">
                <a:latin typeface="Times New Roman" panose="02020603050405020304" pitchFamily="18" charset="0"/>
              </a:rPr>
              <a:t> </a:t>
            </a:r>
            <a:r>
              <a:rPr lang="en-IN" sz="2000" dirty="0" err="1">
                <a:latin typeface="Times New Roman" panose="02020603050405020304" pitchFamily="18" charset="0"/>
              </a:rPr>
              <a:t>dropna</a:t>
            </a:r>
            <a:r>
              <a:rPr lang="en-IN" sz="2000" dirty="0">
                <a:latin typeface="Times New Roman" panose="02020603050405020304" pitchFamily="18" charset="0"/>
              </a:rPr>
              <a:t>() deletes records with missing values.</a:t>
            </a:r>
          </a:p>
          <a:p>
            <a:pPr>
              <a:buFont typeface="Arial" panose="020B0604020202020204" pitchFamily="34" charset="0"/>
              <a:buChar char="•"/>
            </a:pPr>
            <a:r>
              <a:rPr lang="en-IN" sz="2000" b="1" dirty="0">
                <a:latin typeface="Times New Roman" panose="02020603050405020304" pitchFamily="18" charset="0"/>
              </a:rPr>
              <a:t>Remove Duplicates:</a:t>
            </a:r>
            <a:r>
              <a:rPr lang="en-IN" sz="2000" dirty="0">
                <a:latin typeface="Times New Roman" panose="02020603050405020304" pitchFamily="18" charset="0"/>
              </a:rPr>
              <a:t> </a:t>
            </a:r>
            <a:r>
              <a:rPr lang="en-IN" sz="2000" dirty="0" err="1">
                <a:latin typeface="Times New Roman" panose="02020603050405020304" pitchFamily="18" charset="0"/>
              </a:rPr>
              <a:t>df.drop_duplicates</a:t>
            </a:r>
            <a:r>
              <a:rPr lang="en-IN" sz="2000" dirty="0">
                <a:latin typeface="Times New Roman" panose="02020603050405020304" pitchFamily="18" charset="0"/>
              </a:rPr>
              <a:t>() ensures unique entries.</a:t>
            </a:r>
          </a:p>
          <a:p>
            <a:pPr>
              <a:buFont typeface="Arial" panose="020B0604020202020204" pitchFamily="34" charset="0"/>
              <a:buChar char="•"/>
            </a:pPr>
            <a:r>
              <a:rPr lang="en-IN" sz="2000" b="1" dirty="0">
                <a:latin typeface="Times New Roman" panose="02020603050405020304" pitchFamily="18" charset="0"/>
              </a:rPr>
              <a:t>Fill Missing Values:</a:t>
            </a:r>
            <a:r>
              <a:rPr lang="en-IN" sz="2000" dirty="0">
                <a:latin typeface="Times New Roman" panose="02020603050405020304" pitchFamily="18" charset="0"/>
              </a:rPr>
              <a:t> Median for numerical data and mode for categorical data.</a:t>
            </a:r>
          </a:p>
          <a:p>
            <a:pPr>
              <a:buFont typeface="Arial" panose="020B0604020202020204" pitchFamily="34" charset="0"/>
              <a:buChar char="•"/>
            </a:pPr>
            <a:r>
              <a:rPr lang="en-IN" sz="2000" b="1" dirty="0">
                <a:latin typeface="Times New Roman" panose="02020603050405020304" pitchFamily="18" charset="0"/>
              </a:rPr>
              <a:t>Standardization:</a:t>
            </a:r>
            <a:r>
              <a:rPr lang="en-IN" sz="2000" dirty="0">
                <a:latin typeface="Times New Roman" panose="02020603050405020304" pitchFamily="18" charset="0"/>
              </a:rPr>
              <a:t> .</a:t>
            </a:r>
            <a:r>
              <a:rPr lang="en-IN" sz="2000" dirty="0" err="1">
                <a:latin typeface="Times New Roman" panose="02020603050405020304" pitchFamily="18" charset="0"/>
              </a:rPr>
              <a:t>str.strip</a:t>
            </a:r>
            <a:r>
              <a:rPr lang="en-IN" sz="2000" dirty="0">
                <a:latin typeface="Times New Roman" panose="02020603050405020304" pitchFamily="18" charset="0"/>
              </a:rPr>
              <a:t>() removes extra spaces.</a:t>
            </a:r>
          </a:p>
          <a:p>
            <a:pPr>
              <a:buFont typeface="Arial" panose="020B0604020202020204" pitchFamily="34" charset="0"/>
              <a:buChar char="•"/>
            </a:pPr>
            <a:r>
              <a:rPr lang="en-IN" sz="2000" b="1" dirty="0">
                <a:latin typeface="Times New Roman" panose="02020603050405020304" pitchFamily="18" charset="0"/>
              </a:rPr>
              <a:t>Outliers:</a:t>
            </a:r>
            <a:r>
              <a:rPr lang="en-IN" sz="2000" dirty="0">
                <a:latin typeface="Times New Roman" panose="02020603050405020304" pitchFamily="18" charset="0"/>
              </a:rPr>
              <a:t> IQR method and clip() control extreme values</a:t>
            </a:r>
            <a:endParaRPr lang="en-US" sz="2000" dirty="0">
              <a:latin typeface="Times New Roman" panose="02020603050405020304" pitchFamily="18" charset="0"/>
            </a:endParaRPr>
          </a:p>
        </p:txBody>
      </p:sp>
    </p:spTree>
    <p:extLst>
      <p:ext uri="{BB962C8B-B14F-4D97-AF65-F5344CB8AC3E}">
        <p14:creationId xmlns:p14="http://schemas.microsoft.com/office/powerpoint/2010/main" val="114557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7" name="组合"/>
          <p:cNvGrpSpPr>
            <a:grpSpLocks/>
          </p:cNvGrpSpPr>
          <p:nvPr/>
        </p:nvGrpSpPr>
        <p:grpSpPr>
          <a:xfrm>
            <a:off x="2652870" y="0"/>
            <a:ext cx="5103903" cy="1198311"/>
            <a:chOff x="2667000" y="85008"/>
            <a:chExt cx="5103903" cy="1198311"/>
          </a:xfrm>
        </p:grpSpPr>
        <p:pic>
          <p:nvPicPr>
            <p:cNvPr id="53" name="图片"/>
            <p:cNvPicPr>
              <a:picLocks/>
            </p:cNvPicPr>
            <p:nvPr/>
          </p:nvPicPr>
          <p:blipFill>
            <a:blip r:embed="rId3" cstate="print"/>
            <a:stretch>
              <a:fillRect/>
            </a:stretch>
          </p:blipFill>
          <p:spPr>
            <a:xfrm>
              <a:off x="2667000" y="85008"/>
              <a:ext cx="5103903" cy="1198311"/>
            </a:xfrm>
            <a:prstGeom prst="rect">
              <a:avLst/>
            </a:prstGeom>
            <a:noFill/>
            <a:ln w="12700" cap="flat" cmpd="sng">
              <a:noFill/>
              <a:prstDash val="solid"/>
              <a:miter/>
            </a:ln>
          </p:spPr>
        </p:pic>
        <p:pic>
          <p:nvPicPr>
            <p:cNvPr id="54" name="图片"/>
            <p:cNvPicPr>
              <a:picLocks/>
            </p:cNvPicPr>
            <p:nvPr/>
          </p:nvPicPr>
          <p:blipFill>
            <a:blip r:embed="rId4" cstate="print"/>
            <a:stretch>
              <a:fillRect/>
            </a:stretch>
          </p:blipFill>
          <p:spPr>
            <a:xfrm>
              <a:off x="2722007" y="124299"/>
              <a:ext cx="4997767" cy="1092279"/>
            </a:xfrm>
            <a:prstGeom prst="rect">
              <a:avLst/>
            </a:prstGeom>
            <a:noFill/>
            <a:ln w="12700" cap="flat" cmpd="sng">
              <a:noFill/>
              <a:prstDash val="solid"/>
              <a:miter/>
            </a:ln>
          </p:spPr>
        </p:pic>
        <p:pic>
          <p:nvPicPr>
            <p:cNvPr id="55" name="图片"/>
            <p:cNvPicPr>
              <a:picLocks/>
            </p:cNvPicPr>
            <p:nvPr/>
          </p:nvPicPr>
          <p:blipFill>
            <a:blip r:embed="rId5" cstate="print"/>
            <a:stretch>
              <a:fillRect/>
            </a:stretch>
          </p:blipFill>
          <p:spPr>
            <a:xfrm>
              <a:off x="2847737" y="281409"/>
              <a:ext cx="4585268" cy="522565"/>
            </a:xfrm>
            <a:prstGeom prst="rect">
              <a:avLst/>
            </a:prstGeom>
            <a:noFill/>
            <a:ln w="12700" cap="flat" cmpd="sng">
              <a:noFill/>
              <a:prstDash val="solid"/>
              <a:miter/>
            </a:ln>
          </p:spPr>
        </p:pic>
        <p:sp>
          <p:nvSpPr>
            <p:cNvPr id="56" name="曲线"/>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pic>
        <p:nvPicPr>
          <p:cNvPr id="60"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62" name="TextBox 61">
            <a:extLst>
              <a:ext uri="{FF2B5EF4-FFF2-40B4-BE49-F238E27FC236}">
                <a16:creationId xmlns:a16="http://schemas.microsoft.com/office/drawing/2014/main" id="{576BC0B5-F884-3C03-D39A-89E1C7F27D54}"/>
              </a:ext>
            </a:extLst>
          </p:cNvPr>
          <p:cNvSpPr txBox="1"/>
          <p:nvPr/>
        </p:nvSpPr>
        <p:spPr>
          <a:xfrm>
            <a:off x="235441" y="921476"/>
            <a:ext cx="8544628" cy="1631216"/>
          </a:xfrm>
          <a:prstGeom prst="rect">
            <a:avLst/>
          </a:prstGeom>
          <a:noFill/>
        </p:spPr>
        <p:txBody>
          <a:bodyPr wrap="square">
            <a:spAutoFit/>
          </a:bodyPr>
          <a:lstStyle/>
          <a:p>
            <a:pPr>
              <a:buNone/>
            </a:pPr>
            <a:r>
              <a:rPr lang="en-US" sz="2000" b="1" dirty="0">
                <a:latin typeface="Times New Roman" panose="02020603050405020304" pitchFamily="18" charset="0"/>
              </a:rPr>
              <a:t>Data Integration:</a:t>
            </a:r>
          </a:p>
          <a:p>
            <a:pPr>
              <a:buNone/>
            </a:pPr>
            <a:r>
              <a:rPr lang="en-US" sz="2000" dirty="0">
                <a:latin typeface="Times New Roman" panose="02020603050405020304" pitchFamily="18" charset="0"/>
              </a:rPr>
              <a:t>Data from different sources is combined.</a:t>
            </a:r>
          </a:p>
          <a:p>
            <a:pPr>
              <a:buFont typeface="Arial" panose="020B0604020202020204" pitchFamily="34" charset="0"/>
              <a:buChar char="•"/>
            </a:pPr>
            <a:r>
              <a:rPr lang="en-US" sz="2000" b="1" dirty="0">
                <a:latin typeface="Times New Roman" panose="02020603050405020304" pitchFamily="18" charset="0"/>
              </a:rPr>
              <a:t>Merge:</a:t>
            </a:r>
            <a:r>
              <a:rPr lang="en-US" sz="2000" dirty="0">
                <a:latin typeface="Times New Roman" panose="02020603050405020304" pitchFamily="18" charset="0"/>
              </a:rPr>
              <a:t> </a:t>
            </a:r>
            <a:r>
              <a:rPr lang="en-US" sz="2000" dirty="0" err="1">
                <a:latin typeface="Times New Roman" panose="02020603050405020304" pitchFamily="18" charset="0"/>
              </a:rPr>
              <a:t>pd.merge</a:t>
            </a:r>
            <a:r>
              <a:rPr lang="en-US" sz="2000" dirty="0">
                <a:latin typeface="Times New Roman" panose="02020603050405020304" pitchFamily="18" charset="0"/>
              </a:rPr>
              <a:t>() performs an Inner Join.</a:t>
            </a:r>
          </a:p>
          <a:p>
            <a:pPr>
              <a:buFont typeface="Arial" panose="020B0604020202020204" pitchFamily="34" charset="0"/>
              <a:buChar char="•"/>
            </a:pPr>
            <a:r>
              <a:rPr lang="en-US" sz="2000" b="1" dirty="0">
                <a:latin typeface="Times New Roman" panose="02020603050405020304" pitchFamily="18" charset="0"/>
              </a:rPr>
              <a:t>Key Field:</a:t>
            </a:r>
            <a:r>
              <a:rPr lang="en-US" sz="2000" dirty="0">
                <a:latin typeface="Times New Roman" panose="02020603050405020304" pitchFamily="18" charset="0"/>
              </a:rPr>
              <a:t> </a:t>
            </a:r>
            <a:r>
              <a:rPr lang="en-US" sz="2000" i="1" dirty="0" err="1">
                <a:latin typeface="Times New Roman" panose="02020603050405020304" pitchFamily="18" charset="0"/>
              </a:rPr>
              <a:t>StudentID</a:t>
            </a:r>
            <a:r>
              <a:rPr lang="en-US" sz="2000" dirty="0">
                <a:latin typeface="Times New Roman" panose="02020603050405020304" pitchFamily="18" charset="0"/>
              </a:rPr>
              <a:t> links datasets.</a:t>
            </a:r>
          </a:p>
          <a:p>
            <a:pPr>
              <a:buFont typeface="Arial" panose="020B0604020202020204" pitchFamily="34" charset="0"/>
              <a:buChar char="•"/>
            </a:pPr>
            <a:r>
              <a:rPr lang="en-US" sz="2000" b="1" dirty="0">
                <a:latin typeface="Times New Roman" panose="02020603050405020304" pitchFamily="18" charset="0"/>
              </a:rPr>
              <a:t>Result:</a:t>
            </a:r>
            <a:r>
              <a:rPr lang="en-US" sz="2000" dirty="0">
                <a:latin typeface="Times New Roman" panose="02020603050405020304" pitchFamily="18" charset="0"/>
              </a:rPr>
              <a:t> One dataset with student and participation details.</a:t>
            </a:r>
          </a:p>
        </p:txBody>
      </p:sp>
      <p:sp>
        <p:nvSpPr>
          <p:cNvPr id="64" name="TextBox 63">
            <a:extLst>
              <a:ext uri="{FF2B5EF4-FFF2-40B4-BE49-F238E27FC236}">
                <a16:creationId xmlns:a16="http://schemas.microsoft.com/office/drawing/2014/main" id="{792D5563-CD35-9A35-3BBB-27EC321932E2}"/>
              </a:ext>
            </a:extLst>
          </p:cNvPr>
          <p:cNvSpPr txBox="1"/>
          <p:nvPr/>
        </p:nvSpPr>
        <p:spPr>
          <a:xfrm>
            <a:off x="282262" y="2694018"/>
            <a:ext cx="7785745" cy="1323439"/>
          </a:xfrm>
          <a:prstGeom prst="rect">
            <a:avLst/>
          </a:prstGeom>
          <a:noFill/>
        </p:spPr>
        <p:txBody>
          <a:bodyPr wrap="square">
            <a:spAutoFit/>
          </a:bodyPr>
          <a:lstStyle/>
          <a:p>
            <a:pPr>
              <a:buNone/>
            </a:pPr>
            <a:r>
              <a:rPr lang="en-US" sz="2000" b="1" dirty="0">
                <a:latin typeface="Times New Roman" panose="02020603050405020304" pitchFamily="18" charset="0"/>
              </a:rPr>
              <a:t>Feature Engineering:</a:t>
            </a:r>
          </a:p>
          <a:p>
            <a:pPr>
              <a:buNone/>
            </a:pPr>
            <a:r>
              <a:rPr lang="en-US" sz="2000" dirty="0">
                <a:latin typeface="Times New Roman" panose="02020603050405020304" pitchFamily="18" charset="0"/>
              </a:rPr>
              <a:t>New features improve analysis.</a:t>
            </a:r>
          </a:p>
          <a:p>
            <a:pPr>
              <a:buFont typeface="Arial" panose="020B0604020202020204" pitchFamily="34" charset="0"/>
              <a:buChar char="•"/>
            </a:pPr>
            <a:r>
              <a:rPr lang="en-US" sz="2000" b="1" dirty="0">
                <a:latin typeface="Times New Roman" panose="02020603050405020304" pitchFamily="18" charset="0"/>
              </a:rPr>
              <a:t>Labeling:</a:t>
            </a:r>
            <a:r>
              <a:rPr lang="en-US" sz="2000" dirty="0">
                <a:latin typeface="Times New Roman" panose="02020603050405020304" pitchFamily="18" charset="0"/>
              </a:rPr>
              <a:t> Students marked as “Excellent” or “Average”.</a:t>
            </a:r>
          </a:p>
          <a:p>
            <a:pPr>
              <a:buFont typeface="Arial" panose="020B0604020202020204" pitchFamily="34" charset="0"/>
              <a:buChar char="•"/>
            </a:pPr>
            <a:r>
              <a:rPr lang="en-US" sz="2000" b="1" dirty="0">
                <a:latin typeface="Times New Roman" panose="02020603050405020304" pitchFamily="18" charset="0"/>
              </a:rPr>
              <a:t>Ranking:</a:t>
            </a:r>
            <a:r>
              <a:rPr lang="en-US" sz="2000" dirty="0">
                <a:latin typeface="Times New Roman" panose="02020603050405020304" pitchFamily="18" charset="0"/>
              </a:rPr>
              <a:t> Labels converted to numeric values using .map().</a:t>
            </a:r>
          </a:p>
        </p:txBody>
      </p:sp>
      <p:sp>
        <p:nvSpPr>
          <p:cNvPr id="66" name="TextBox 65">
            <a:extLst>
              <a:ext uri="{FF2B5EF4-FFF2-40B4-BE49-F238E27FC236}">
                <a16:creationId xmlns:a16="http://schemas.microsoft.com/office/drawing/2014/main" id="{68A09B7F-6381-966C-5BE8-EB0384554E12}"/>
              </a:ext>
            </a:extLst>
          </p:cNvPr>
          <p:cNvSpPr txBox="1"/>
          <p:nvPr/>
        </p:nvSpPr>
        <p:spPr>
          <a:xfrm>
            <a:off x="290750" y="4204183"/>
            <a:ext cx="13116793" cy="1323439"/>
          </a:xfrm>
          <a:prstGeom prst="rect">
            <a:avLst/>
          </a:prstGeom>
          <a:noFill/>
        </p:spPr>
        <p:txBody>
          <a:bodyPr wrap="square">
            <a:spAutoFit/>
          </a:bodyPr>
          <a:lstStyle/>
          <a:p>
            <a:pPr>
              <a:buNone/>
            </a:pPr>
            <a:r>
              <a:rPr lang="en-US" sz="2000" b="1" dirty="0">
                <a:latin typeface="Times New Roman" panose="02020603050405020304" pitchFamily="18" charset="0"/>
              </a:rPr>
              <a:t>Data Organization and Export</a:t>
            </a:r>
          </a:p>
          <a:p>
            <a:pPr>
              <a:buNone/>
            </a:pPr>
            <a:r>
              <a:rPr lang="en-US" sz="2000" dirty="0">
                <a:latin typeface="Times New Roman" panose="02020603050405020304" pitchFamily="18" charset="0"/>
              </a:rPr>
              <a:t>Final data is arranged and saved.</a:t>
            </a:r>
          </a:p>
          <a:p>
            <a:pPr>
              <a:buFont typeface="Arial" panose="020B0604020202020204" pitchFamily="34" charset="0"/>
              <a:buChar char="•"/>
            </a:pPr>
            <a:r>
              <a:rPr lang="en-US" sz="2000" b="1" dirty="0">
                <a:latin typeface="Times New Roman" panose="02020603050405020304" pitchFamily="18" charset="0"/>
              </a:rPr>
              <a:t>Sort:</a:t>
            </a:r>
            <a:r>
              <a:rPr lang="en-US" sz="2000" dirty="0">
                <a:latin typeface="Times New Roman" panose="02020603050405020304" pitchFamily="18" charset="0"/>
              </a:rPr>
              <a:t> </a:t>
            </a:r>
            <a:r>
              <a:rPr lang="en-US" sz="2000" dirty="0" err="1">
                <a:latin typeface="Times New Roman" panose="02020603050405020304" pitchFamily="18" charset="0"/>
              </a:rPr>
              <a:t>sort_values</a:t>
            </a:r>
            <a:r>
              <a:rPr lang="en-US" sz="2000" dirty="0">
                <a:latin typeface="Times New Roman" panose="02020603050405020304" pitchFamily="18" charset="0"/>
              </a:rPr>
              <a:t>() organizes by Rank.</a:t>
            </a:r>
          </a:p>
          <a:p>
            <a:pPr>
              <a:buFont typeface="Arial" panose="020B0604020202020204" pitchFamily="34" charset="0"/>
              <a:buChar char="•"/>
            </a:pPr>
            <a:r>
              <a:rPr lang="en-US" sz="2000" b="1" dirty="0">
                <a:latin typeface="Times New Roman" panose="02020603050405020304" pitchFamily="18" charset="0"/>
              </a:rPr>
              <a:t>Export:</a:t>
            </a:r>
            <a:r>
              <a:rPr lang="en-US" sz="2000" dirty="0">
                <a:latin typeface="Times New Roman" panose="02020603050405020304" pitchFamily="18" charset="0"/>
              </a:rPr>
              <a:t> Dataset saved as a CSV file..</a:t>
            </a:r>
          </a:p>
        </p:txBody>
      </p:sp>
      <p:sp>
        <p:nvSpPr>
          <p:cNvPr id="68" name="TextBox 67">
            <a:extLst>
              <a:ext uri="{FF2B5EF4-FFF2-40B4-BE49-F238E27FC236}">
                <a16:creationId xmlns:a16="http://schemas.microsoft.com/office/drawing/2014/main" id="{A22F6AAB-932E-2E77-B8F8-21791A07A95F}"/>
              </a:ext>
            </a:extLst>
          </p:cNvPr>
          <p:cNvSpPr txBox="1"/>
          <p:nvPr/>
        </p:nvSpPr>
        <p:spPr>
          <a:xfrm>
            <a:off x="210630" y="5686450"/>
            <a:ext cx="8489690" cy="1015663"/>
          </a:xfrm>
          <a:prstGeom prst="rect">
            <a:avLst/>
          </a:prstGeom>
          <a:noFill/>
        </p:spPr>
        <p:txBody>
          <a:bodyPr wrap="square">
            <a:spAutoFit/>
          </a:bodyPr>
          <a:lstStyle/>
          <a:p>
            <a:pPr>
              <a:buNone/>
            </a:pPr>
            <a:r>
              <a:rPr lang="en-US" sz="2000" b="1" dirty="0">
                <a:latin typeface="Times New Roman" panose="02020603050405020304" pitchFamily="18" charset="0"/>
              </a:rPr>
              <a:t> Data Cleaning Validation</a:t>
            </a:r>
          </a:p>
          <a:p>
            <a:pPr>
              <a:buFont typeface="Arial" panose="020B0604020202020204" pitchFamily="34" charset="0"/>
              <a:buChar char="•"/>
            </a:pPr>
            <a:r>
              <a:rPr lang="en-US" sz="2000" b="1" dirty="0">
                <a:latin typeface="Times New Roman" panose="02020603050405020304" pitchFamily="18" charset="0"/>
              </a:rPr>
              <a:t>Before:</a:t>
            </a:r>
            <a:r>
              <a:rPr lang="en-US" sz="2000" dirty="0">
                <a:latin typeface="Times New Roman" panose="02020603050405020304" pitchFamily="18" charset="0"/>
              </a:rPr>
              <a:t> Charts show missing values.</a:t>
            </a:r>
          </a:p>
          <a:p>
            <a:pPr>
              <a:buFont typeface="Arial" panose="020B0604020202020204" pitchFamily="34" charset="0"/>
              <a:buChar char="•"/>
            </a:pPr>
            <a:r>
              <a:rPr lang="en-US" sz="2000" b="1" dirty="0">
                <a:latin typeface="Times New Roman" panose="02020603050405020304" pitchFamily="18" charset="0"/>
              </a:rPr>
              <a:t>After:</a:t>
            </a:r>
            <a:r>
              <a:rPr lang="en-US" sz="2000" dirty="0">
                <a:latin typeface="Times New Roman" panose="02020603050405020304" pitchFamily="18" charset="0"/>
              </a:rPr>
              <a:t> </a:t>
            </a:r>
            <a:r>
              <a:rPr lang="en-US" sz="2000" dirty="0" err="1">
                <a:latin typeface="Times New Roman" panose="02020603050405020304" pitchFamily="18" charset="0"/>
              </a:rPr>
              <a:t>dropna</a:t>
            </a:r>
            <a:r>
              <a:rPr lang="en-US" sz="2000" dirty="0">
                <a:latin typeface="Times New Roman" panose="02020603050405020304" pitchFamily="18" charset="0"/>
              </a:rPr>
              <a:t>() removes incomplete records for accurate results.</a:t>
            </a:r>
          </a:p>
        </p:txBody>
      </p:sp>
      <p:sp>
        <p:nvSpPr>
          <p:cNvPr id="5" name="TextBox 4">
            <a:extLst>
              <a:ext uri="{FF2B5EF4-FFF2-40B4-BE49-F238E27FC236}">
                <a16:creationId xmlns:a16="http://schemas.microsoft.com/office/drawing/2014/main" id="{EDA44A04-EA3E-96FA-3C41-6ED3D68A44C8}"/>
              </a:ext>
            </a:extLst>
          </p:cNvPr>
          <p:cNvSpPr txBox="1"/>
          <p:nvPr/>
        </p:nvSpPr>
        <p:spPr>
          <a:xfrm>
            <a:off x="3596417" y="241801"/>
            <a:ext cx="5103903" cy="392415"/>
          </a:xfrm>
          <a:prstGeom prst="rect">
            <a:avLst/>
          </a:prstGeom>
          <a:noFill/>
        </p:spPr>
        <p:txBody>
          <a:bodyPr wrap="square">
            <a:spAutoFit/>
          </a:bodyPr>
          <a:lstStyle/>
          <a:p>
            <a:pPr marL="0" indent="0" algn="l">
              <a:lnSpc>
                <a:spcPct val="100000"/>
              </a:lnSpc>
              <a:spcBef>
                <a:spcPts val="0"/>
              </a:spcBef>
              <a:spcAft>
                <a:spcPts val="0"/>
              </a:spcAft>
              <a:buNone/>
            </a:pPr>
            <a:r>
              <a:rPr lang="en-US" altLang="zh-CN" sz="1950" b="1" i="0" u="none" strike="noStrike" kern="0" cap="none" spc="0" baseline="0" dirty="0">
                <a:solidFill>
                  <a:schemeClr val="bg1"/>
                </a:solidFill>
                <a:latin typeface="Times New Roman" pitchFamily="18" charset="0"/>
                <a:ea typeface="Droid Sans"/>
                <a:cs typeface="Times New Roman" pitchFamily="18" charset="0"/>
              </a:rPr>
              <a:t>DATA PREPROCESSING</a:t>
            </a:r>
            <a:endParaRPr lang="zh-CN" altLang="en-US" sz="1950" b="1" i="0" u="none" strike="noStrike" kern="0" cap="none" spc="0" baseline="0" dirty="0">
              <a:solidFill>
                <a:schemeClr val="bg1"/>
              </a:solidFill>
              <a:latin typeface="Times New Roman" pitchFamily="18" charset="0"/>
              <a:ea typeface="Droid Sans"/>
              <a:cs typeface="Times New Roman" pitchFamily="18" charset="0"/>
            </a:endParaRPr>
          </a:p>
        </p:txBody>
      </p:sp>
    </p:spTree>
    <p:extLst>
      <p:ext uri="{BB962C8B-B14F-4D97-AF65-F5344CB8AC3E}">
        <p14:creationId xmlns:p14="http://schemas.microsoft.com/office/powerpoint/2010/main" val="43369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矩形"/>
          <p:cNvSpPr>
            <a:spLocks/>
          </p:cNvSpPr>
          <p:nvPr/>
        </p:nvSpPr>
        <p:spPr>
          <a:xfrm>
            <a:off x="4412373" y="321324"/>
            <a:ext cx="5029200" cy="38671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950" b="1" i="0" u="none" strike="noStrike" kern="0" cap="none" spc="0" baseline="0">
                <a:solidFill>
                  <a:schemeClr val="bg1"/>
                </a:solidFill>
                <a:latin typeface="Times New Roman" pitchFamily="18" charset="0"/>
                <a:ea typeface="Droid Sans"/>
                <a:cs typeface="Times New Roman" pitchFamily="18" charset="0"/>
              </a:rPr>
              <a:t>ANALYSIS</a:t>
            </a:r>
            <a:endParaRPr lang="zh-CN" altLang="en-US" sz="1950" b="1" i="0" u="none" strike="noStrike" kern="0" cap="none" spc="0" baseline="0">
              <a:solidFill>
                <a:schemeClr val="bg1"/>
              </a:solidFill>
              <a:latin typeface="Times New Roman" pitchFamily="18" charset="0"/>
              <a:ea typeface="Droid Sans"/>
              <a:cs typeface="Times New Roman" pitchFamily="18" charset="0"/>
            </a:endParaRPr>
          </a:p>
        </p:txBody>
      </p:sp>
      <p:pic>
        <p:nvPicPr>
          <p:cNvPr id="63" name="图片"/>
          <p:cNvPicPr>
            <a:picLocks/>
          </p:cNvPicPr>
          <p:nvPr/>
        </p:nvPicPr>
        <p:blipFill>
          <a:blip r:embed="rId3" cstate="print"/>
          <a:stretch>
            <a:fillRect/>
          </a:stretch>
        </p:blipFill>
        <p:spPr>
          <a:xfrm>
            <a:off x="290750" y="204311"/>
            <a:ext cx="1163002" cy="424338"/>
          </a:xfrm>
          <a:prstGeom prst="rect">
            <a:avLst/>
          </a:prstGeom>
          <a:noFill/>
          <a:ln w="12700" cap="flat" cmpd="sng">
            <a:noFill/>
            <a:prstDash val="solid"/>
            <a:miter/>
          </a:ln>
        </p:spPr>
      </p:pic>
      <p:pic>
        <p:nvPicPr>
          <p:cNvPr id="3" name="Picture 2">
            <a:extLst>
              <a:ext uri="{FF2B5EF4-FFF2-40B4-BE49-F238E27FC236}">
                <a16:creationId xmlns:a16="http://schemas.microsoft.com/office/drawing/2014/main" id="{A05DC0D2-0C10-BCC0-543E-516A362D8E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860" y="2260449"/>
            <a:ext cx="4330923" cy="1832577"/>
          </a:xfrm>
          <a:prstGeom prst="rect">
            <a:avLst/>
          </a:prstGeom>
        </p:spPr>
      </p:pic>
      <p:pic>
        <p:nvPicPr>
          <p:cNvPr id="7" name="Picture 6">
            <a:extLst>
              <a:ext uri="{FF2B5EF4-FFF2-40B4-BE49-F238E27FC236}">
                <a16:creationId xmlns:a16="http://schemas.microsoft.com/office/drawing/2014/main" id="{C3793FEA-F316-20A4-F861-2BEE1327EB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6784" y="2578826"/>
            <a:ext cx="4010756" cy="1015663"/>
          </a:xfrm>
          <a:prstGeom prst="rect">
            <a:avLst/>
          </a:prstGeom>
        </p:spPr>
      </p:pic>
      <p:pic>
        <p:nvPicPr>
          <p:cNvPr id="9" name="Picture 8">
            <a:extLst>
              <a:ext uri="{FF2B5EF4-FFF2-40B4-BE49-F238E27FC236}">
                <a16:creationId xmlns:a16="http://schemas.microsoft.com/office/drawing/2014/main" id="{BA6390DC-ECE2-230B-63E8-E1BA24BE8D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2110" y="4415162"/>
            <a:ext cx="4867090" cy="2772766"/>
          </a:xfrm>
          <a:prstGeom prst="rect">
            <a:avLst/>
          </a:prstGeom>
        </p:spPr>
      </p:pic>
      <p:pic>
        <p:nvPicPr>
          <p:cNvPr id="11" name="Picture 10">
            <a:extLst>
              <a:ext uri="{FF2B5EF4-FFF2-40B4-BE49-F238E27FC236}">
                <a16:creationId xmlns:a16="http://schemas.microsoft.com/office/drawing/2014/main" id="{F5D5EA2C-FF10-2EE3-84D2-F9895CB194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39826" y="4479823"/>
            <a:ext cx="4572218" cy="2398278"/>
          </a:xfrm>
          <a:prstGeom prst="rect">
            <a:avLst/>
          </a:prstGeom>
        </p:spPr>
      </p:pic>
      <p:sp>
        <p:nvSpPr>
          <p:cNvPr id="13" name="TextBox 12">
            <a:extLst>
              <a:ext uri="{FF2B5EF4-FFF2-40B4-BE49-F238E27FC236}">
                <a16:creationId xmlns:a16="http://schemas.microsoft.com/office/drawing/2014/main" id="{55072FDF-B532-EDB6-9C43-89D6391F9BD8}"/>
              </a:ext>
            </a:extLst>
          </p:cNvPr>
          <p:cNvSpPr txBox="1"/>
          <p:nvPr/>
        </p:nvSpPr>
        <p:spPr>
          <a:xfrm>
            <a:off x="474428" y="892681"/>
            <a:ext cx="9358425" cy="1015663"/>
          </a:xfrm>
          <a:prstGeom prst="rect">
            <a:avLst/>
          </a:prstGeom>
          <a:noFill/>
        </p:spPr>
        <p:txBody>
          <a:bodyPr wrap="square">
            <a:spAutoFit/>
          </a:bodyPr>
          <a:lstStyle/>
          <a:p>
            <a:r>
              <a:rPr lang="en-US" sz="2000" dirty="0">
                <a:latin typeface="Times New Roman" panose="02020603050405020304" pitchFamily="18" charset="0"/>
              </a:rPr>
              <a:t>The data cleaning process transforms messy raw data into a reliable, analysis-ready form by removing null values using </a:t>
            </a:r>
            <a:r>
              <a:rPr lang="en-US" sz="2000" dirty="0" err="1">
                <a:latin typeface="Times New Roman" panose="02020603050405020304" pitchFamily="18" charset="0"/>
              </a:rPr>
              <a:t>dropna</a:t>
            </a:r>
            <a:r>
              <a:rPr lang="en-US" sz="2000" dirty="0">
                <a:latin typeface="Times New Roman" panose="02020603050405020304" pitchFamily="18" charset="0"/>
              </a:rPr>
              <a:t>().Visualizations before and after cleaning highlight improvements in data quality.</a:t>
            </a:r>
            <a:endParaRPr lang="en-IN" sz="2000" dirty="0">
              <a:latin typeface="Times New Roman" panose="02020603050405020304" pitchFamily="18" charset="0"/>
            </a:endParaRPr>
          </a:p>
        </p:txBody>
      </p:sp>
    </p:spTree>
    <p:extLst>
      <p:ext uri="{BB962C8B-B14F-4D97-AF65-F5344CB8AC3E}">
        <p14:creationId xmlns:p14="http://schemas.microsoft.com/office/powerpoint/2010/main" val="1687243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1" name="组合"/>
          <p:cNvGrpSpPr>
            <a:grpSpLocks/>
          </p:cNvGrpSpPr>
          <p:nvPr/>
        </p:nvGrpSpPr>
        <p:grpSpPr>
          <a:xfrm>
            <a:off x="2477248" y="152400"/>
            <a:ext cx="5103903" cy="1198311"/>
            <a:chOff x="2477248" y="152400"/>
            <a:chExt cx="5103903" cy="1198311"/>
          </a:xfrm>
        </p:grpSpPr>
        <p:pic>
          <p:nvPicPr>
            <p:cNvPr id="87" name="图片"/>
            <p:cNvPicPr>
              <a:picLocks/>
            </p:cNvPicPr>
            <p:nvPr/>
          </p:nvPicPr>
          <p:blipFill>
            <a:blip r:embed="rId3" cstate="print"/>
            <a:stretch>
              <a:fillRect/>
            </a:stretch>
          </p:blipFill>
          <p:spPr>
            <a:xfrm>
              <a:off x="2477248" y="152400"/>
              <a:ext cx="5103903" cy="1198311"/>
            </a:xfrm>
            <a:prstGeom prst="rect">
              <a:avLst/>
            </a:prstGeom>
            <a:noFill/>
            <a:ln w="12700" cap="flat" cmpd="sng">
              <a:noFill/>
              <a:prstDash val="solid"/>
              <a:miter/>
            </a:ln>
          </p:spPr>
        </p:pic>
        <p:pic>
          <p:nvPicPr>
            <p:cNvPr id="88" name="图片"/>
            <p:cNvPicPr>
              <a:picLocks/>
            </p:cNvPicPr>
            <p:nvPr/>
          </p:nvPicPr>
          <p:blipFill>
            <a:blip r:embed="rId4" cstate="print"/>
            <a:stretch>
              <a:fillRect/>
            </a:stretch>
          </p:blipFill>
          <p:spPr>
            <a:xfrm>
              <a:off x="2532255" y="191691"/>
              <a:ext cx="4997767" cy="1092278"/>
            </a:xfrm>
            <a:prstGeom prst="rect">
              <a:avLst/>
            </a:prstGeom>
            <a:noFill/>
            <a:ln w="12700" cap="flat" cmpd="sng">
              <a:noFill/>
              <a:prstDash val="solid"/>
              <a:miter/>
            </a:ln>
          </p:spPr>
        </p:pic>
        <p:pic>
          <p:nvPicPr>
            <p:cNvPr id="89" name="图片"/>
            <p:cNvPicPr>
              <a:picLocks/>
            </p:cNvPicPr>
            <p:nvPr/>
          </p:nvPicPr>
          <p:blipFill>
            <a:blip r:embed="rId5" cstate="print"/>
            <a:stretch>
              <a:fillRect/>
            </a:stretch>
          </p:blipFill>
          <p:spPr>
            <a:xfrm>
              <a:off x="2657985" y="348801"/>
              <a:ext cx="4585269" cy="522564"/>
            </a:xfrm>
            <a:prstGeom prst="rect">
              <a:avLst/>
            </a:prstGeom>
            <a:noFill/>
            <a:ln w="12700" cap="flat" cmpd="sng">
              <a:noFill/>
              <a:prstDash val="solid"/>
              <a:miter/>
            </a:ln>
          </p:spPr>
        </p:pic>
        <p:sp>
          <p:nvSpPr>
            <p:cNvPr id="90" name="曲线"/>
            <p:cNvSpPr>
              <a:spLocks/>
            </p:cNvSpPr>
            <p:nvPr/>
          </p:nvSpPr>
          <p:spPr>
            <a:xfrm>
              <a:off x="2712991" y="388144"/>
              <a:ext cx="4479290" cy="416558"/>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sp>
        <p:nvSpPr>
          <p:cNvPr id="92" name="文本框"/>
          <p:cNvSpPr>
            <a:spLocks noGrp="1"/>
          </p:cNvSpPr>
          <p:nvPr>
            <p:ph type="title"/>
          </p:nvPr>
        </p:nvSpPr>
        <p:spPr>
          <a:xfrm>
            <a:off x="3945255" y="432593"/>
            <a:ext cx="2167889" cy="316753"/>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zh-CN" altLang="en-US" sz="1950" b="1" i="0" u="none" strike="noStrike" kern="0" cap="none" spc="0" baseline="0" dirty="0">
                <a:solidFill>
                  <a:schemeClr val="bg1"/>
                </a:solidFill>
                <a:latin typeface="Times New Roman" pitchFamily="18" charset="0"/>
                <a:ea typeface="宋体" charset="0"/>
                <a:cs typeface="Times New Roman" pitchFamily="18" charset="0"/>
              </a:rPr>
              <a:t> </a:t>
            </a:r>
          </a:p>
        </p:txBody>
      </p:sp>
      <p:pic>
        <p:nvPicPr>
          <p:cNvPr id="93"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3" name="TextBox 2">
            <a:extLst>
              <a:ext uri="{FF2B5EF4-FFF2-40B4-BE49-F238E27FC236}">
                <a16:creationId xmlns:a16="http://schemas.microsoft.com/office/drawing/2014/main" id="{B80F46C5-BB23-4AD6-4EB3-B68C2DC43FD3}"/>
              </a:ext>
            </a:extLst>
          </p:cNvPr>
          <p:cNvSpPr txBox="1"/>
          <p:nvPr/>
        </p:nvSpPr>
        <p:spPr>
          <a:xfrm>
            <a:off x="691932" y="918731"/>
            <a:ext cx="3625640" cy="400110"/>
          </a:xfrm>
          <a:prstGeom prst="rect">
            <a:avLst/>
          </a:prstGeom>
          <a:noFill/>
        </p:spPr>
        <p:txBody>
          <a:bodyPr wrap="square" rtlCol="0">
            <a:spAutoFit/>
          </a:bodyPr>
          <a:lstStyle/>
          <a:p>
            <a:r>
              <a:rPr lang="en-US" sz="2000" b="1" dirty="0">
                <a:latin typeface="Times New Roman" panose="02020603050405020304" pitchFamily="18" charset="0"/>
              </a:rPr>
              <a:t>Graph representations</a:t>
            </a:r>
            <a:endParaRPr lang="en-IN" sz="2000" b="1" dirty="0">
              <a:latin typeface="Times New Roman" panose="02020603050405020304" pitchFamily="18" charset="0"/>
            </a:endParaRPr>
          </a:p>
        </p:txBody>
      </p:sp>
      <p:pic>
        <p:nvPicPr>
          <p:cNvPr id="5" name="Picture 4">
            <a:extLst>
              <a:ext uri="{FF2B5EF4-FFF2-40B4-BE49-F238E27FC236}">
                <a16:creationId xmlns:a16="http://schemas.microsoft.com/office/drawing/2014/main" id="{FEA7E140-BC82-8CB8-E1AF-6B5A748C75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2589" y="1542694"/>
            <a:ext cx="3202442" cy="2555140"/>
          </a:xfrm>
          <a:prstGeom prst="rect">
            <a:avLst/>
          </a:prstGeom>
        </p:spPr>
      </p:pic>
      <p:pic>
        <p:nvPicPr>
          <p:cNvPr id="7" name="Picture 6">
            <a:extLst>
              <a:ext uri="{FF2B5EF4-FFF2-40B4-BE49-F238E27FC236}">
                <a16:creationId xmlns:a16="http://schemas.microsoft.com/office/drawing/2014/main" id="{90ACBBA7-A367-78F4-4687-387106BBFEE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29199" y="1542694"/>
            <a:ext cx="3202442" cy="2594384"/>
          </a:xfrm>
          <a:prstGeom prst="rect">
            <a:avLst/>
          </a:prstGeom>
        </p:spPr>
      </p:pic>
      <p:sp>
        <p:nvSpPr>
          <p:cNvPr id="9" name="TextBox 8">
            <a:extLst>
              <a:ext uri="{FF2B5EF4-FFF2-40B4-BE49-F238E27FC236}">
                <a16:creationId xmlns:a16="http://schemas.microsoft.com/office/drawing/2014/main" id="{DF0C7FB0-6921-41EF-7E32-A2A464C86BE2}"/>
              </a:ext>
            </a:extLst>
          </p:cNvPr>
          <p:cNvSpPr txBox="1"/>
          <p:nvPr/>
        </p:nvSpPr>
        <p:spPr>
          <a:xfrm>
            <a:off x="2743234" y="4203258"/>
            <a:ext cx="5029200" cy="400110"/>
          </a:xfrm>
          <a:prstGeom prst="rect">
            <a:avLst/>
          </a:prstGeom>
          <a:noFill/>
        </p:spPr>
        <p:txBody>
          <a:bodyPr wrap="square">
            <a:spAutoFit/>
          </a:bodyPr>
          <a:lstStyle/>
          <a:p>
            <a:r>
              <a:rPr lang="en-US" sz="2000" b="1" dirty="0">
                <a:latin typeface="Times New Roman" panose="02020603050405020304" pitchFamily="18" charset="0"/>
              </a:rPr>
              <a:t>BEFORE vs. AFTER DATA CLEANING</a:t>
            </a:r>
            <a:endParaRPr lang="en-IN" sz="2000" b="1" dirty="0">
              <a:latin typeface="Times New Roman" panose="02020603050405020304" pitchFamily="18" charset="0"/>
            </a:endParaRPr>
          </a:p>
        </p:txBody>
      </p:sp>
      <p:pic>
        <p:nvPicPr>
          <p:cNvPr id="11" name="Picture 10">
            <a:extLst>
              <a:ext uri="{FF2B5EF4-FFF2-40B4-BE49-F238E27FC236}">
                <a16:creationId xmlns:a16="http://schemas.microsoft.com/office/drawing/2014/main" id="{4C00A35A-2414-F70C-A114-04697C7FC60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4427" y="4785615"/>
            <a:ext cx="4257128" cy="2565501"/>
          </a:xfrm>
          <a:prstGeom prst="rect">
            <a:avLst/>
          </a:prstGeom>
        </p:spPr>
      </p:pic>
      <p:pic>
        <p:nvPicPr>
          <p:cNvPr id="13" name="Picture 12">
            <a:extLst>
              <a:ext uri="{FF2B5EF4-FFF2-40B4-BE49-F238E27FC236}">
                <a16:creationId xmlns:a16="http://schemas.microsoft.com/office/drawing/2014/main" id="{56C27684-8CD3-F92F-619B-0534FB2A1EA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15383" y="4766797"/>
            <a:ext cx="4257128" cy="2606076"/>
          </a:xfrm>
          <a:prstGeom prst="rect">
            <a:avLst/>
          </a:prstGeom>
        </p:spPr>
      </p:pic>
      <p:sp>
        <p:nvSpPr>
          <p:cNvPr id="4" name="TextBox 3">
            <a:extLst>
              <a:ext uri="{FF2B5EF4-FFF2-40B4-BE49-F238E27FC236}">
                <a16:creationId xmlns:a16="http://schemas.microsoft.com/office/drawing/2014/main" id="{B3267A71-4BB1-7069-0382-C8AEF7F702CC}"/>
              </a:ext>
            </a:extLst>
          </p:cNvPr>
          <p:cNvSpPr txBox="1"/>
          <p:nvPr/>
        </p:nvSpPr>
        <p:spPr>
          <a:xfrm>
            <a:off x="3444980" y="399527"/>
            <a:ext cx="5029200" cy="392415"/>
          </a:xfrm>
          <a:prstGeom prst="rect">
            <a:avLst/>
          </a:prstGeom>
          <a:noFill/>
        </p:spPr>
        <p:txBody>
          <a:bodyPr wrap="square">
            <a:spAutoFit/>
          </a:bodyPr>
          <a:lstStyle/>
          <a:p>
            <a:pPr marL="0" indent="0" algn="l">
              <a:lnSpc>
                <a:spcPct val="100000"/>
              </a:lnSpc>
              <a:spcBef>
                <a:spcPts val="0"/>
              </a:spcBef>
              <a:spcAft>
                <a:spcPts val="0"/>
              </a:spcAft>
              <a:buNone/>
            </a:pPr>
            <a:r>
              <a:rPr lang="en-US" altLang="zh-CN" sz="1950" b="1" i="0" u="none" strike="noStrike" kern="0" cap="none" spc="0" baseline="0" dirty="0">
                <a:solidFill>
                  <a:schemeClr val="bg1"/>
                </a:solidFill>
                <a:latin typeface="Times New Roman" pitchFamily="18" charset="0"/>
                <a:ea typeface="Droid Sans"/>
                <a:cs typeface="Times New Roman" pitchFamily="18" charset="0"/>
              </a:rPr>
              <a:t>DATA PREPROCESSING</a:t>
            </a:r>
            <a:endParaRPr lang="zh-CN" altLang="en-US" sz="1950" b="1" i="0" u="none" strike="noStrike" kern="0" cap="none" spc="0" baseline="0" dirty="0">
              <a:solidFill>
                <a:schemeClr val="bg1"/>
              </a:solidFill>
              <a:latin typeface="Times New Roman" pitchFamily="18" charset="0"/>
              <a:ea typeface="Droid Sans"/>
              <a:cs typeface="Times New Roman" pitchFamily="18" charset="0"/>
            </a:endParaRPr>
          </a:p>
        </p:txBody>
      </p:sp>
    </p:spTree>
    <p:extLst>
      <p:ext uri="{BB962C8B-B14F-4D97-AF65-F5344CB8AC3E}">
        <p14:creationId xmlns:p14="http://schemas.microsoft.com/office/powerpoint/2010/main" val="928239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 name="矩形"/>
          <p:cNvSpPr>
            <a:spLocks/>
          </p:cNvSpPr>
          <p:nvPr/>
        </p:nvSpPr>
        <p:spPr>
          <a:xfrm>
            <a:off x="4412373" y="321324"/>
            <a:ext cx="5029200" cy="38671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950" b="1" i="0" u="none" strike="noStrike" kern="0" cap="none" spc="0" baseline="0">
                <a:solidFill>
                  <a:schemeClr val="bg1"/>
                </a:solidFill>
                <a:latin typeface="Palatino Linotype" charset="0"/>
                <a:ea typeface="Droid Sans"/>
                <a:cs typeface="Lucida Sans"/>
              </a:rPr>
              <a:t>ANALYSIS</a:t>
            </a:r>
            <a:endParaRPr lang="zh-CN" altLang="en-US" sz="1950" b="1" i="0" u="none" strike="noStrike" kern="0" cap="none" spc="0" baseline="0">
              <a:solidFill>
                <a:schemeClr val="bg1"/>
              </a:solidFill>
              <a:latin typeface="Palatino Linotype" charset="0"/>
              <a:ea typeface="Droid Sans"/>
              <a:cs typeface="Lucida Sans"/>
            </a:endParaRPr>
          </a:p>
        </p:txBody>
      </p:sp>
      <p:sp>
        <p:nvSpPr>
          <p:cNvPr id="65" name="矩形"/>
          <p:cNvSpPr>
            <a:spLocks/>
          </p:cNvSpPr>
          <p:nvPr/>
        </p:nvSpPr>
        <p:spPr>
          <a:xfrm>
            <a:off x="1453751" y="-74350"/>
            <a:ext cx="7728347" cy="53937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en-US" altLang="zh-CN" sz="2200" b="0" i="0" u="none" strike="noStrike" kern="0" cap="none" spc="0" baseline="0" dirty="0">
                <a:solidFill>
                  <a:schemeClr val="tx1"/>
                </a:solidFill>
                <a:latin typeface="Times New Roman" pitchFamily="18" charset="0"/>
                <a:ea typeface="Droid Sans"/>
                <a:cs typeface="Times New Roman" pitchFamily="18" charset="0"/>
              </a:rPr>
              <a:t>.</a:t>
            </a:r>
            <a:endParaRPr lang="zh-CN" altLang="en-US" sz="2200" b="0" i="0" u="none" strike="noStrike" kern="0" cap="none" spc="0" baseline="0" dirty="0">
              <a:solidFill>
                <a:schemeClr val="tx1"/>
              </a:solidFill>
              <a:latin typeface="Times New Roman" pitchFamily="18" charset="0"/>
              <a:ea typeface="Droid Sans"/>
              <a:cs typeface="Times New Roman" pitchFamily="18" charset="0"/>
            </a:endParaRPr>
          </a:p>
        </p:txBody>
      </p:sp>
      <p:pic>
        <p:nvPicPr>
          <p:cNvPr id="66" name="图片"/>
          <p:cNvPicPr>
            <a:picLocks/>
          </p:cNvPicPr>
          <p:nvPr/>
        </p:nvPicPr>
        <p:blipFill>
          <a:blip r:embed="rId3" cstate="print"/>
          <a:stretch>
            <a:fillRect/>
          </a:stretch>
        </p:blipFill>
        <p:spPr>
          <a:xfrm>
            <a:off x="290750" y="204311"/>
            <a:ext cx="1163002" cy="424338"/>
          </a:xfrm>
          <a:prstGeom prst="rect">
            <a:avLst/>
          </a:prstGeom>
          <a:noFill/>
          <a:ln w="12700" cap="flat" cmpd="sng">
            <a:noFill/>
            <a:prstDash val="solid"/>
            <a:miter/>
          </a:ln>
        </p:spPr>
      </p:pic>
      <p:grpSp>
        <p:nvGrpSpPr>
          <p:cNvPr id="2" name="组合">
            <a:extLst>
              <a:ext uri="{FF2B5EF4-FFF2-40B4-BE49-F238E27FC236}">
                <a16:creationId xmlns:a16="http://schemas.microsoft.com/office/drawing/2014/main" id="{CEAA409D-2FF3-0F48-6493-3B5FEFF9629D}"/>
              </a:ext>
            </a:extLst>
          </p:cNvPr>
          <p:cNvGrpSpPr>
            <a:grpSpLocks/>
          </p:cNvGrpSpPr>
          <p:nvPr/>
        </p:nvGrpSpPr>
        <p:grpSpPr>
          <a:xfrm>
            <a:off x="3156940" y="108883"/>
            <a:ext cx="5103903" cy="1198311"/>
            <a:chOff x="2667000" y="85008"/>
            <a:chExt cx="5103903" cy="1198311"/>
          </a:xfrm>
        </p:grpSpPr>
        <p:pic>
          <p:nvPicPr>
            <p:cNvPr id="3" name="图片">
              <a:extLst>
                <a:ext uri="{FF2B5EF4-FFF2-40B4-BE49-F238E27FC236}">
                  <a16:creationId xmlns:a16="http://schemas.microsoft.com/office/drawing/2014/main" id="{725B3C2E-0117-9B0B-BFF9-74CE60E64C89}"/>
                </a:ext>
              </a:extLst>
            </p:cNvPr>
            <p:cNvPicPr>
              <a:picLocks/>
            </p:cNvPicPr>
            <p:nvPr/>
          </p:nvPicPr>
          <p:blipFill>
            <a:blip r:embed="rId4" cstate="print"/>
            <a:stretch>
              <a:fillRect/>
            </a:stretch>
          </p:blipFill>
          <p:spPr>
            <a:xfrm>
              <a:off x="2667000" y="85008"/>
              <a:ext cx="5103903" cy="1198311"/>
            </a:xfrm>
            <a:prstGeom prst="rect">
              <a:avLst/>
            </a:prstGeom>
            <a:noFill/>
            <a:ln w="12700" cap="flat" cmpd="sng">
              <a:noFill/>
              <a:prstDash val="solid"/>
              <a:miter/>
            </a:ln>
          </p:spPr>
        </p:pic>
        <p:pic>
          <p:nvPicPr>
            <p:cNvPr id="4" name="图片">
              <a:extLst>
                <a:ext uri="{FF2B5EF4-FFF2-40B4-BE49-F238E27FC236}">
                  <a16:creationId xmlns:a16="http://schemas.microsoft.com/office/drawing/2014/main" id="{7FBE86EC-D36C-A1CF-52EE-1ABF5511B8C1}"/>
                </a:ext>
              </a:extLst>
            </p:cNvPr>
            <p:cNvPicPr>
              <a:picLocks/>
            </p:cNvPicPr>
            <p:nvPr/>
          </p:nvPicPr>
          <p:blipFill>
            <a:blip r:embed="rId5" cstate="print"/>
            <a:stretch>
              <a:fillRect/>
            </a:stretch>
          </p:blipFill>
          <p:spPr>
            <a:xfrm>
              <a:off x="2722007" y="124299"/>
              <a:ext cx="4997767" cy="1092279"/>
            </a:xfrm>
            <a:prstGeom prst="rect">
              <a:avLst/>
            </a:prstGeom>
            <a:noFill/>
            <a:ln w="12700" cap="flat" cmpd="sng">
              <a:noFill/>
              <a:prstDash val="solid"/>
              <a:miter/>
            </a:ln>
          </p:spPr>
        </p:pic>
        <p:pic>
          <p:nvPicPr>
            <p:cNvPr id="5" name="图片">
              <a:extLst>
                <a:ext uri="{FF2B5EF4-FFF2-40B4-BE49-F238E27FC236}">
                  <a16:creationId xmlns:a16="http://schemas.microsoft.com/office/drawing/2014/main" id="{4AF207E0-B7FC-2053-326C-C8811A04CBB0}"/>
                </a:ext>
              </a:extLst>
            </p:cNvPr>
            <p:cNvPicPr>
              <a:picLocks/>
            </p:cNvPicPr>
            <p:nvPr/>
          </p:nvPicPr>
          <p:blipFill>
            <a:blip r:embed="rId6" cstate="print"/>
            <a:stretch>
              <a:fillRect/>
            </a:stretch>
          </p:blipFill>
          <p:spPr>
            <a:xfrm>
              <a:off x="2847737" y="281409"/>
              <a:ext cx="4585268" cy="522565"/>
            </a:xfrm>
            <a:prstGeom prst="rect">
              <a:avLst/>
            </a:prstGeom>
            <a:noFill/>
            <a:ln w="12700" cap="flat" cmpd="sng">
              <a:noFill/>
              <a:prstDash val="solid"/>
              <a:miter/>
            </a:ln>
          </p:spPr>
        </p:pic>
        <p:sp>
          <p:nvSpPr>
            <p:cNvPr id="6" name="曲线">
              <a:extLst>
                <a:ext uri="{FF2B5EF4-FFF2-40B4-BE49-F238E27FC236}">
                  <a16:creationId xmlns:a16="http://schemas.microsoft.com/office/drawing/2014/main" id="{75C60CF3-9E4C-15D3-0771-4517C0F86F91}"/>
                </a:ext>
              </a:extLst>
            </p:cNvPr>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sp>
        <p:nvSpPr>
          <p:cNvPr id="7" name="TextBox 6">
            <a:extLst>
              <a:ext uri="{FF2B5EF4-FFF2-40B4-BE49-F238E27FC236}">
                <a16:creationId xmlns:a16="http://schemas.microsoft.com/office/drawing/2014/main" id="{EEAE0507-B168-A567-0263-1C1A9D49CADC}"/>
              </a:ext>
            </a:extLst>
          </p:cNvPr>
          <p:cNvSpPr txBox="1"/>
          <p:nvPr/>
        </p:nvSpPr>
        <p:spPr>
          <a:xfrm>
            <a:off x="4363466" y="335733"/>
            <a:ext cx="2307042" cy="400110"/>
          </a:xfrm>
          <a:prstGeom prst="rect">
            <a:avLst/>
          </a:prstGeom>
          <a:noFill/>
        </p:spPr>
        <p:txBody>
          <a:bodyPr wrap="none" rtlCol="0">
            <a:spAutoFit/>
          </a:bodyPr>
          <a:lstStyle/>
          <a:p>
            <a:r>
              <a:rPr lang="en-US" sz="2000" b="1" dirty="0">
                <a:solidFill>
                  <a:schemeClr val="bg1"/>
                </a:solidFill>
                <a:latin typeface="Times New Roman" panose="02020603050405020304" pitchFamily="18" charset="0"/>
              </a:rPr>
              <a:t>METHODOLOGY</a:t>
            </a:r>
            <a:endParaRPr lang="en-IN" sz="2000" b="1" dirty="0">
              <a:solidFill>
                <a:schemeClr val="bg1"/>
              </a:solidFill>
              <a:latin typeface="Times New Roman" panose="02020603050405020304" pitchFamily="18" charset="0"/>
            </a:endParaRPr>
          </a:p>
        </p:txBody>
      </p:sp>
      <p:sp>
        <p:nvSpPr>
          <p:cNvPr id="10" name="TextBox 9">
            <a:extLst>
              <a:ext uri="{FF2B5EF4-FFF2-40B4-BE49-F238E27FC236}">
                <a16:creationId xmlns:a16="http://schemas.microsoft.com/office/drawing/2014/main" id="{E488775D-2299-E56C-B41F-466F8149148B}"/>
              </a:ext>
            </a:extLst>
          </p:cNvPr>
          <p:cNvSpPr txBox="1"/>
          <p:nvPr/>
        </p:nvSpPr>
        <p:spPr>
          <a:xfrm>
            <a:off x="300846" y="2037932"/>
            <a:ext cx="9427560" cy="4893647"/>
          </a:xfrm>
          <a:prstGeom prst="rect">
            <a:avLst/>
          </a:prstGeom>
          <a:noFill/>
        </p:spPr>
        <p:txBody>
          <a:bodyPr wrap="square">
            <a:spAutoFit/>
          </a:bodyPr>
          <a:lstStyle/>
          <a:p>
            <a:pPr>
              <a:buNone/>
            </a:pPr>
            <a:r>
              <a:rPr lang="en-US" b="1" dirty="0">
                <a:latin typeface="Times New Roman" panose="02020603050405020304" pitchFamily="18" charset="0"/>
              </a:rPr>
              <a:t>Classification Using J48 Decision Tree and Random Tree</a:t>
            </a:r>
          </a:p>
          <a:p>
            <a:pPr>
              <a:buNone/>
            </a:pPr>
            <a:r>
              <a:rPr lang="en-US" b="1" dirty="0">
                <a:latin typeface="Times New Roman" panose="02020603050405020304" pitchFamily="18" charset="0"/>
              </a:rPr>
              <a:t>J48 Decision Tree:</a:t>
            </a:r>
          </a:p>
          <a:p>
            <a:pPr>
              <a:buNone/>
            </a:pPr>
            <a:r>
              <a:rPr lang="en-US" dirty="0">
                <a:latin typeface="Times New Roman" panose="02020603050405020304" pitchFamily="18" charset="0"/>
              </a:rPr>
              <a:t>J48 is a decision tree–based classification algorithm. It works by selecting the best attribute at each node using information gain and splitting the dataset accordingly. The process continues until all instances are classified into predefined classes such as </a:t>
            </a:r>
            <a:r>
              <a:rPr lang="en-US" i="1" dirty="0">
                <a:latin typeface="Times New Roman" panose="02020603050405020304" pitchFamily="18" charset="0"/>
              </a:rPr>
              <a:t>Excellent, Good, Average,</a:t>
            </a:r>
            <a:r>
              <a:rPr lang="en-US" dirty="0">
                <a:latin typeface="Times New Roman" panose="02020603050405020304" pitchFamily="18" charset="0"/>
              </a:rPr>
              <a:t> and </a:t>
            </a:r>
            <a:r>
              <a:rPr lang="en-US" i="1" dirty="0">
                <a:latin typeface="Times New Roman" panose="02020603050405020304" pitchFamily="18" charset="0"/>
              </a:rPr>
              <a:t>Poor</a:t>
            </a:r>
            <a:r>
              <a:rPr lang="en-US" dirty="0">
                <a:latin typeface="Times New Roman" panose="02020603050405020304" pitchFamily="18" charset="0"/>
              </a:rPr>
              <a:t>. The final model is represented as a tree, where each path from root to leaf forms an IF–THEN rule for classification.</a:t>
            </a:r>
          </a:p>
          <a:p>
            <a:pPr>
              <a:buNone/>
            </a:pPr>
            <a:r>
              <a:rPr lang="en-US" b="1" dirty="0">
                <a:latin typeface="Times New Roman" panose="02020603050405020304" pitchFamily="18" charset="0"/>
              </a:rPr>
              <a:t>Random Tree:</a:t>
            </a:r>
          </a:p>
          <a:p>
            <a:pPr>
              <a:buNone/>
            </a:pPr>
            <a:r>
              <a:rPr lang="en-US" dirty="0">
                <a:latin typeface="Times New Roman" panose="02020603050405020304" pitchFamily="18" charset="0"/>
              </a:rPr>
              <a:t>Random Tree is also a decision tree–based classifier but introduces randomness by selecting a random subset of attributes at each node. This reduces bias and overfitting. Each tree independently classifies the data, and the final class is predicted based on the structure of the generated tree.</a:t>
            </a:r>
          </a:p>
        </p:txBody>
      </p:sp>
      <p:sp>
        <p:nvSpPr>
          <p:cNvPr id="11" name="TextBox 10">
            <a:extLst>
              <a:ext uri="{FF2B5EF4-FFF2-40B4-BE49-F238E27FC236}">
                <a16:creationId xmlns:a16="http://schemas.microsoft.com/office/drawing/2014/main" id="{C96E943F-C548-1A01-9D4C-17AFC61FB176}"/>
              </a:ext>
            </a:extLst>
          </p:cNvPr>
          <p:cNvSpPr txBox="1"/>
          <p:nvPr/>
        </p:nvSpPr>
        <p:spPr>
          <a:xfrm>
            <a:off x="317782" y="1198902"/>
            <a:ext cx="2691763" cy="584775"/>
          </a:xfrm>
          <a:prstGeom prst="rect">
            <a:avLst/>
          </a:prstGeom>
          <a:noFill/>
        </p:spPr>
        <p:txBody>
          <a:bodyPr wrap="none" rtlCol="0">
            <a:spAutoFit/>
          </a:bodyPr>
          <a:lstStyle/>
          <a:p>
            <a:r>
              <a:rPr lang="en-IN" sz="3200" b="1" dirty="0">
                <a:latin typeface="Times New Roman" panose="02020603050405020304" pitchFamily="18" charset="0"/>
              </a:rPr>
              <a:t>Classification:</a:t>
            </a:r>
          </a:p>
        </p:txBody>
      </p:sp>
    </p:spTree>
    <p:extLst>
      <p:ext uri="{BB962C8B-B14F-4D97-AF65-F5344CB8AC3E}">
        <p14:creationId xmlns:p14="http://schemas.microsoft.com/office/powerpoint/2010/main" val="1233580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 name="组合"/>
          <p:cNvGrpSpPr>
            <a:grpSpLocks/>
          </p:cNvGrpSpPr>
          <p:nvPr/>
        </p:nvGrpSpPr>
        <p:grpSpPr>
          <a:xfrm>
            <a:off x="2940910" y="120381"/>
            <a:ext cx="5103903" cy="1198311"/>
            <a:chOff x="2667000" y="85008"/>
            <a:chExt cx="5103903" cy="1198311"/>
          </a:xfrm>
        </p:grpSpPr>
        <p:pic>
          <p:nvPicPr>
            <p:cNvPr id="67" name="图片"/>
            <p:cNvPicPr>
              <a:picLocks/>
            </p:cNvPicPr>
            <p:nvPr/>
          </p:nvPicPr>
          <p:blipFill>
            <a:blip r:embed="rId3" cstate="print"/>
            <a:stretch>
              <a:fillRect/>
            </a:stretch>
          </p:blipFill>
          <p:spPr>
            <a:xfrm>
              <a:off x="2667000" y="85008"/>
              <a:ext cx="5103903" cy="1198311"/>
            </a:xfrm>
            <a:prstGeom prst="rect">
              <a:avLst/>
            </a:prstGeom>
            <a:noFill/>
            <a:ln w="12700" cap="flat" cmpd="sng">
              <a:noFill/>
              <a:prstDash val="solid"/>
              <a:miter/>
            </a:ln>
          </p:spPr>
        </p:pic>
        <p:pic>
          <p:nvPicPr>
            <p:cNvPr id="68" name="图片"/>
            <p:cNvPicPr>
              <a:picLocks/>
            </p:cNvPicPr>
            <p:nvPr/>
          </p:nvPicPr>
          <p:blipFill>
            <a:blip r:embed="rId4" cstate="print"/>
            <a:stretch>
              <a:fillRect/>
            </a:stretch>
          </p:blipFill>
          <p:spPr>
            <a:xfrm>
              <a:off x="2722007" y="124299"/>
              <a:ext cx="4997767" cy="1092279"/>
            </a:xfrm>
            <a:prstGeom prst="rect">
              <a:avLst/>
            </a:prstGeom>
            <a:noFill/>
            <a:ln w="12700" cap="flat" cmpd="sng">
              <a:noFill/>
              <a:prstDash val="solid"/>
              <a:miter/>
            </a:ln>
          </p:spPr>
        </p:pic>
        <p:pic>
          <p:nvPicPr>
            <p:cNvPr id="69" name="图片"/>
            <p:cNvPicPr>
              <a:picLocks/>
            </p:cNvPicPr>
            <p:nvPr/>
          </p:nvPicPr>
          <p:blipFill>
            <a:blip r:embed="rId5" cstate="print"/>
            <a:stretch>
              <a:fillRect/>
            </a:stretch>
          </p:blipFill>
          <p:spPr>
            <a:xfrm>
              <a:off x="2847737" y="281409"/>
              <a:ext cx="4585268" cy="522565"/>
            </a:xfrm>
            <a:prstGeom prst="rect">
              <a:avLst/>
            </a:prstGeom>
            <a:noFill/>
            <a:ln w="12700" cap="flat" cmpd="sng">
              <a:noFill/>
              <a:prstDash val="solid"/>
              <a:miter/>
            </a:ln>
          </p:spPr>
        </p:pic>
        <p:sp>
          <p:nvSpPr>
            <p:cNvPr id="70" name="曲线"/>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pic>
        <p:nvPicPr>
          <p:cNvPr id="74"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9" name="TextBox 8">
            <a:extLst>
              <a:ext uri="{FF2B5EF4-FFF2-40B4-BE49-F238E27FC236}">
                <a16:creationId xmlns:a16="http://schemas.microsoft.com/office/drawing/2014/main" id="{4360B654-D1C4-70C2-C416-5762AB5695EF}"/>
              </a:ext>
            </a:extLst>
          </p:cNvPr>
          <p:cNvSpPr txBox="1"/>
          <p:nvPr/>
        </p:nvSpPr>
        <p:spPr>
          <a:xfrm>
            <a:off x="551959" y="1964065"/>
            <a:ext cx="4223021" cy="1077218"/>
          </a:xfrm>
          <a:prstGeom prst="rect">
            <a:avLst/>
          </a:prstGeom>
          <a:noFill/>
        </p:spPr>
        <p:txBody>
          <a:bodyPr wrap="square" rtlCol="0">
            <a:spAutoFit/>
          </a:bodyPr>
          <a:lstStyle/>
          <a:p>
            <a:r>
              <a:rPr lang="en-US" sz="1600" dirty="0">
                <a:latin typeface="Times New Roman" panose="02020603050405020304" pitchFamily="18" charset="0"/>
              </a:rPr>
              <a:t>In the J48 Decision Tree algorithm, the attribute with the highest Information Gain (or Gain Ratio) is selected at each node for splitting the data.</a:t>
            </a:r>
            <a:endParaRPr lang="en-IN" sz="1600" b="1" dirty="0">
              <a:latin typeface="Times New Roman" panose="02020603050405020304" pitchFamily="18" charset="0"/>
            </a:endParaRPr>
          </a:p>
        </p:txBody>
      </p:sp>
      <p:sp>
        <p:nvSpPr>
          <p:cNvPr id="10" name="TextBox 9">
            <a:extLst>
              <a:ext uri="{FF2B5EF4-FFF2-40B4-BE49-F238E27FC236}">
                <a16:creationId xmlns:a16="http://schemas.microsoft.com/office/drawing/2014/main" id="{661C5764-82B6-1584-197C-F84ABC73DD4C}"/>
              </a:ext>
            </a:extLst>
          </p:cNvPr>
          <p:cNvSpPr txBox="1"/>
          <p:nvPr/>
        </p:nvSpPr>
        <p:spPr>
          <a:xfrm>
            <a:off x="562140" y="1463282"/>
            <a:ext cx="5929960" cy="461665"/>
          </a:xfrm>
          <a:prstGeom prst="rect">
            <a:avLst/>
          </a:prstGeom>
          <a:noFill/>
        </p:spPr>
        <p:txBody>
          <a:bodyPr wrap="square" rtlCol="0">
            <a:spAutoFit/>
          </a:bodyPr>
          <a:lstStyle/>
          <a:p>
            <a:r>
              <a:rPr lang="en-IN" b="1" dirty="0">
                <a:latin typeface="Times New Roman" panose="02020603050405020304" pitchFamily="18" charset="0"/>
              </a:rPr>
              <a:t>J48 Decision Tree Algorithm:</a:t>
            </a:r>
          </a:p>
        </p:txBody>
      </p:sp>
      <p:sp>
        <p:nvSpPr>
          <p:cNvPr id="12" name="TextBox 11">
            <a:extLst>
              <a:ext uri="{FF2B5EF4-FFF2-40B4-BE49-F238E27FC236}">
                <a16:creationId xmlns:a16="http://schemas.microsoft.com/office/drawing/2014/main" id="{D50E8B00-2A85-C0E4-E903-55BA3CDFD809}"/>
              </a:ext>
            </a:extLst>
          </p:cNvPr>
          <p:cNvSpPr txBox="1"/>
          <p:nvPr/>
        </p:nvSpPr>
        <p:spPr>
          <a:xfrm>
            <a:off x="5121311" y="1964065"/>
            <a:ext cx="4937089" cy="1077218"/>
          </a:xfrm>
          <a:prstGeom prst="rect">
            <a:avLst/>
          </a:prstGeom>
          <a:noFill/>
        </p:spPr>
        <p:txBody>
          <a:bodyPr wrap="square">
            <a:spAutoFit/>
          </a:bodyPr>
          <a:lstStyle/>
          <a:p>
            <a:r>
              <a:rPr lang="en-US" sz="1600" dirty="0">
                <a:latin typeface="Times New Roman" panose="02020603050405020304" pitchFamily="18" charset="0"/>
              </a:rPr>
              <a:t>In the Smart Library Management System, the Random Tree algorithm is used to classify students into categories such as Excellent, Good, Average, and Poor based on academic and library-related attributes.</a:t>
            </a:r>
            <a:endParaRPr lang="en-IN" sz="1600" dirty="0">
              <a:latin typeface="Times New Roman" panose="02020603050405020304" pitchFamily="18" charset="0"/>
            </a:endParaRPr>
          </a:p>
        </p:txBody>
      </p:sp>
      <p:sp>
        <p:nvSpPr>
          <p:cNvPr id="13" name="TextBox 12">
            <a:extLst>
              <a:ext uri="{FF2B5EF4-FFF2-40B4-BE49-F238E27FC236}">
                <a16:creationId xmlns:a16="http://schemas.microsoft.com/office/drawing/2014/main" id="{0D2C2448-FD5C-3B77-80AA-B4CE0155E71E}"/>
              </a:ext>
            </a:extLst>
          </p:cNvPr>
          <p:cNvSpPr txBox="1"/>
          <p:nvPr/>
        </p:nvSpPr>
        <p:spPr>
          <a:xfrm>
            <a:off x="5121311" y="1492699"/>
            <a:ext cx="3911628" cy="461665"/>
          </a:xfrm>
          <a:prstGeom prst="rect">
            <a:avLst/>
          </a:prstGeom>
          <a:noFill/>
        </p:spPr>
        <p:txBody>
          <a:bodyPr wrap="square" rtlCol="0">
            <a:spAutoFit/>
          </a:bodyPr>
          <a:lstStyle/>
          <a:p>
            <a:r>
              <a:rPr lang="en-IN" b="1" dirty="0">
                <a:latin typeface="Times New Roman" panose="02020603050405020304" pitchFamily="18" charset="0"/>
              </a:rPr>
              <a:t>Random Tree Algorithm:</a:t>
            </a:r>
          </a:p>
        </p:txBody>
      </p:sp>
      <p:sp>
        <p:nvSpPr>
          <p:cNvPr id="15" name="TextBox 14">
            <a:extLst>
              <a:ext uri="{FF2B5EF4-FFF2-40B4-BE49-F238E27FC236}">
                <a16:creationId xmlns:a16="http://schemas.microsoft.com/office/drawing/2014/main" id="{4E18FAFE-DD63-D92A-88F7-A3CD1FA59E29}"/>
              </a:ext>
            </a:extLst>
          </p:cNvPr>
          <p:cNvSpPr txBox="1"/>
          <p:nvPr/>
        </p:nvSpPr>
        <p:spPr>
          <a:xfrm>
            <a:off x="4093070" y="316782"/>
            <a:ext cx="5034774"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rPr>
              <a:t>CLASSIFICATION</a:t>
            </a:r>
          </a:p>
        </p:txBody>
      </p:sp>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1959" y="3454140"/>
            <a:ext cx="4205158" cy="3168440"/>
          </a:xfrm>
          <a:prstGeom prst="rect">
            <a:avLst/>
          </a:prstGeom>
        </p:spPr>
      </p:pic>
      <p:pic>
        <p:nvPicPr>
          <p:cNvPr id="3" name="Picture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21311" y="3454141"/>
            <a:ext cx="4300499" cy="3168440"/>
          </a:xfrm>
          <a:prstGeom prst="rect">
            <a:avLst/>
          </a:prstGeom>
        </p:spPr>
      </p:pic>
    </p:spTree>
    <p:extLst>
      <p:ext uri="{BB962C8B-B14F-4D97-AF65-F5344CB8AC3E}">
        <p14:creationId xmlns:p14="http://schemas.microsoft.com/office/powerpoint/2010/main" val="1474393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 name="组合"/>
          <p:cNvGrpSpPr>
            <a:grpSpLocks/>
          </p:cNvGrpSpPr>
          <p:nvPr/>
        </p:nvGrpSpPr>
        <p:grpSpPr>
          <a:xfrm>
            <a:off x="2940910" y="120381"/>
            <a:ext cx="5103903" cy="1198311"/>
            <a:chOff x="2667000" y="85008"/>
            <a:chExt cx="5103903" cy="1198311"/>
          </a:xfrm>
        </p:grpSpPr>
        <p:pic>
          <p:nvPicPr>
            <p:cNvPr id="67" name="图片"/>
            <p:cNvPicPr>
              <a:picLocks/>
            </p:cNvPicPr>
            <p:nvPr/>
          </p:nvPicPr>
          <p:blipFill>
            <a:blip r:embed="rId3" cstate="print"/>
            <a:stretch>
              <a:fillRect/>
            </a:stretch>
          </p:blipFill>
          <p:spPr>
            <a:xfrm>
              <a:off x="2667000" y="85008"/>
              <a:ext cx="5103903" cy="1198311"/>
            </a:xfrm>
            <a:prstGeom prst="rect">
              <a:avLst/>
            </a:prstGeom>
            <a:noFill/>
            <a:ln w="12700" cap="flat" cmpd="sng">
              <a:noFill/>
              <a:prstDash val="solid"/>
              <a:miter/>
            </a:ln>
          </p:spPr>
        </p:pic>
        <p:pic>
          <p:nvPicPr>
            <p:cNvPr id="68" name="图片"/>
            <p:cNvPicPr>
              <a:picLocks/>
            </p:cNvPicPr>
            <p:nvPr/>
          </p:nvPicPr>
          <p:blipFill>
            <a:blip r:embed="rId4" cstate="print"/>
            <a:stretch>
              <a:fillRect/>
            </a:stretch>
          </p:blipFill>
          <p:spPr>
            <a:xfrm>
              <a:off x="2722007" y="124299"/>
              <a:ext cx="4997767" cy="1092279"/>
            </a:xfrm>
            <a:prstGeom prst="rect">
              <a:avLst/>
            </a:prstGeom>
            <a:noFill/>
            <a:ln w="12700" cap="flat" cmpd="sng">
              <a:noFill/>
              <a:prstDash val="solid"/>
              <a:miter/>
            </a:ln>
          </p:spPr>
        </p:pic>
        <p:pic>
          <p:nvPicPr>
            <p:cNvPr id="69" name="图片"/>
            <p:cNvPicPr>
              <a:picLocks/>
            </p:cNvPicPr>
            <p:nvPr/>
          </p:nvPicPr>
          <p:blipFill>
            <a:blip r:embed="rId5" cstate="print"/>
            <a:stretch>
              <a:fillRect/>
            </a:stretch>
          </p:blipFill>
          <p:spPr>
            <a:xfrm>
              <a:off x="2847737" y="281409"/>
              <a:ext cx="4585268" cy="522565"/>
            </a:xfrm>
            <a:prstGeom prst="rect">
              <a:avLst/>
            </a:prstGeom>
            <a:noFill/>
            <a:ln w="12700" cap="flat" cmpd="sng">
              <a:noFill/>
              <a:prstDash val="solid"/>
              <a:miter/>
            </a:ln>
          </p:spPr>
        </p:pic>
        <p:sp>
          <p:nvSpPr>
            <p:cNvPr id="70" name="曲线"/>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pic>
        <p:nvPicPr>
          <p:cNvPr id="74"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0" name="TextBox 9">
            <a:extLst>
              <a:ext uri="{FF2B5EF4-FFF2-40B4-BE49-F238E27FC236}">
                <a16:creationId xmlns:a16="http://schemas.microsoft.com/office/drawing/2014/main" id="{661C5764-82B6-1584-197C-F84ABC73DD4C}"/>
              </a:ext>
            </a:extLst>
          </p:cNvPr>
          <p:cNvSpPr txBox="1"/>
          <p:nvPr/>
        </p:nvSpPr>
        <p:spPr>
          <a:xfrm>
            <a:off x="562140" y="1463282"/>
            <a:ext cx="5929960" cy="461665"/>
          </a:xfrm>
          <a:prstGeom prst="rect">
            <a:avLst/>
          </a:prstGeom>
          <a:noFill/>
        </p:spPr>
        <p:txBody>
          <a:bodyPr wrap="square" rtlCol="0">
            <a:spAutoFit/>
          </a:bodyPr>
          <a:lstStyle/>
          <a:p>
            <a:r>
              <a:rPr lang="en-IN" b="1" dirty="0">
                <a:latin typeface="Times New Roman" panose="02020603050405020304" pitchFamily="18" charset="0"/>
              </a:rPr>
              <a:t>J48 Decision </a:t>
            </a:r>
            <a:r>
              <a:rPr lang="en-IN" b="1" dirty="0" smtClean="0">
                <a:latin typeface="Times New Roman" panose="02020603050405020304" pitchFamily="18" charset="0"/>
              </a:rPr>
              <a:t>Tree:</a:t>
            </a:r>
            <a:endParaRPr lang="en-IN" b="1" dirty="0">
              <a:latin typeface="Times New Roman" panose="02020603050405020304" pitchFamily="18" charset="0"/>
            </a:endParaRPr>
          </a:p>
        </p:txBody>
      </p:sp>
      <p:sp>
        <p:nvSpPr>
          <p:cNvPr id="13" name="TextBox 12">
            <a:extLst>
              <a:ext uri="{FF2B5EF4-FFF2-40B4-BE49-F238E27FC236}">
                <a16:creationId xmlns:a16="http://schemas.microsoft.com/office/drawing/2014/main" id="{0D2C2448-FD5C-3B77-80AA-B4CE0155E71E}"/>
              </a:ext>
            </a:extLst>
          </p:cNvPr>
          <p:cNvSpPr txBox="1"/>
          <p:nvPr/>
        </p:nvSpPr>
        <p:spPr>
          <a:xfrm>
            <a:off x="5121311" y="1492699"/>
            <a:ext cx="3911628" cy="461665"/>
          </a:xfrm>
          <a:prstGeom prst="rect">
            <a:avLst/>
          </a:prstGeom>
          <a:noFill/>
        </p:spPr>
        <p:txBody>
          <a:bodyPr wrap="square" rtlCol="0">
            <a:spAutoFit/>
          </a:bodyPr>
          <a:lstStyle/>
          <a:p>
            <a:r>
              <a:rPr lang="en-IN" b="1" dirty="0">
                <a:latin typeface="Times New Roman" panose="02020603050405020304" pitchFamily="18" charset="0"/>
              </a:rPr>
              <a:t>Random Tree </a:t>
            </a:r>
            <a:r>
              <a:rPr lang="en-IN" b="1" dirty="0" smtClean="0">
                <a:latin typeface="Times New Roman" panose="02020603050405020304" pitchFamily="18" charset="0"/>
              </a:rPr>
              <a:t>:</a:t>
            </a:r>
            <a:endParaRPr lang="en-IN" b="1" dirty="0">
              <a:latin typeface="Times New Roman" panose="02020603050405020304" pitchFamily="18" charset="0"/>
            </a:endParaRPr>
          </a:p>
        </p:txBody>
      </p:sp>
      <p:sp>
        <p:nvSpPr>
          <p:cNvPr id="15" name="TextBox 14">
            <a:extLst>
              <a:ext uri="{FF2B5EF4-FFF2-40B4-BE49-F238E27FC236}">
                <a16:creationId xmlns:a16="http://schemas.microsoft.com/office/drawing/2014/main" id="{4E18FAFE-DD63-D92A-88F7-A3CD1FA59E29}"/>
              </a:ext>
            </a:extLst>
          </p:cNvPr>
          <p:cNvSpPr txBox="1"/>
          <p:nvPr/>
        </p:nvSpPr>
        <p:spPr>
          <a:xfrm>
            <a:off x="4093070" y="316782"/>
            <a:ext cx="5034774"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rPr>
              <a:t>CLASSIFICATION</a:t>
            </a:r>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750" y="2752974"/>
            <a:ext cx="4371314" cy="3297951"/>
          </a:xfrm>
          <a:prstGeom prst="rect">
            <a:avLst/>
          </a:prstGeom>
        </p:spPr>
      </p:pic>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57191" y="2724639"/>
            <a:ext cx="4320600" cy="3326286"/>
          </a:xfrm>
          <a:prstGeom prst="rect">
            <a:avLst/>
          </a:prstGeom>
        </p:spPr>
      </p:pic>
    </p:spTree>
    <p:extLst>
      <p:ext uri="{BB962C8B-B14F-4D97-AF65-F5344CB8AC3E}">
        <p14:creationId xmlns:p14="http://schemas.microsoft.com/office/powerpoint/2010/main" val="2912754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7CB839-1CA6-1416-D6D2-3205FEBEC7D5}"/>
            </a:ext>
          </a:extLst>
        </p:cNvPr>
        <p:cNvGrpSpPr/>
        <p:nvPr/>
      </p:nvGrpSpPr>
      <p:grpSpPr>
        <a:xfrm>
          <a:off x="0" y="0"/>
          <a:ext cx="0" cy="0"/>
          <a:chOff x="0" y="0"/>
          <a:chExt cx="0" cy="0"/>
        </a:xfrm>
      </p:grpSpPr>
      <p:grpSp>
        <p:nvGrpSpPr>
          <p:cNvPr id="71" name="组合">
            <a:extLst>
              <a:ext uri="{FF2B5EF4-FFF2-40B4-BE49-F238E27FC236}">
                <a16:creationId xmlns:a16="http://schemas.microsoft.com/office/drawing/2014/main" id="{44BA8CDF-128B-E959-8F09-1F4E032022AD}"/>
              </a:ext>
            </a:extLst>
          </p:cNvPr>
          <p:cNvGrpSpPr>
            <a:grpSpLocks/>
          </p:cNvGrpSpPr>
          <p:nvPr/>
        </p:nvGrpSpPr>
        <p:grpSpPr>
          <a:xfrm>
            <a:off x="2940910" y="120381"/>
            <a:ext cx="5103903" cy="1198311"/>
            <a:chOff x="2667000" y="85008"/>
            <a:chExt cx="5103903" cy="1198311"/>
          </a:xfrm>
        </p:grpSpPr>
        <p:pic>
          <p:nvPicPr>
            <p:cNvPr id="67" name="图片">
              <a:extLst>
                <a:ext uri="{FF2B5EF4-FFF2-40B4-BE49-F238E27FC236}">
                  <a16:creationId xmlns:a16="http://schemas.microsoft.com/office/drawing/2014/main" id="{6B1E27F8-0301-F31B-081E-560073B34234}"/>
                </a:ext>
              </a:extLst>
            </p:cNvPr>
            <p:cNvPicPr>
              <a:picLocks/>
            </p:cNvPicPr>
            <p:nvPr/>
          </p:nvPicPr>
          <p:blipFill>
            <a:blip r:embed="rId3" cstate="print"/>
            <a:stretch>
              <a:fillRect/>
            </a:stretch>
          </p:blipFill>
          <p:spPr>
            <a:xfrm>
              <a:off x="2667000" y="85008"/>
              <a:ext cx="5103903" cy="1198311"/>
            </a:xfrm>
            <a:prstGeom prst="rect">
              <a:avLst/>
            </a:prstGeom>
            <a:noFill/>
            <a:ln w="12700" cap="flat" cmpd="sng">
              <a:noFill/>
              <a:prstDash val="solid"/>
              <a:miter/>
            </a:ln>
          </p:spPr>
        </p:pic>
        <p:pic>
          <p:nvPicPr>
            <p:cNvPr id="68" name="图片">
              <a:extLst>
                <a:ext uri="{FF2B5EF4-FFF2-40B4-BE49-F238E27FC236}">
                  <a16:creationId xmlns:a16="http://schemas.microsoft.com/office/drawing/2014/main" id="{7B7C0DD6-1BE8-B126-574D-056609D14A4B}"/>
                </a:ext>
              </a:extLst>
            </p:cNvPr>
            <p:cNvPicPr>
              <a:picLocks/>
            </p:cNvPicPr>
            <p:nvPr/>
          </p:nvPicPr>
          <p:blipFill>
            <a:blip r:embed="rId4" cstate="print"/>
            <a:stretch>
              <a:fillRect/>
            </a:stretch>
          </p:blipFill>
          <p:spPr>
            <a:xfrm>
              <a:off x="2722007" y="124299"/>
              <a:ext cx="4997767" cy="1092279"/>
            </a:xfrm>
            <a:prstGeom prst="rect">
              <a:avLst/>
            </a:prstGeom>
            <a:noFill/>
            <a:ln w="12700" cap="flat" cmpd="sng">
              <a:noFill/>
              <a:prstDash val="solid"/>
              <a:miter/>
            </a:ln>
          </p:spPr>
        </p:pic>
        <p:pic>
          <p:nvPicPr>
            <p:cNvPr id="69" name="图片">
              <a:extLst>
                <a:ext uri="{FF2B5EF4-FFF2-40B4-BE49-F238E27FC236}">
                  <a16:creationId xmlns:a16="http://schemas.microsoft.com/office/drawing/2014/main" id="{012D36B4-4114-3E23-D1DE-3A745195FAFF}"/>
                </a:ext>
              </a:extLst>
            </p:cNvPr>
            <p:cNvPicPr>
              <a:picLocks/>
            </p:cNvPicPr>
            <p:nvPr/>
          </p:nvPicPr>
          <p:blipFill>
            <a:blip r:embed="rId5" cstate="print"/>
            <a:stretch>
              <a:fillRect/>
            </a:stretch>
          </p:blipFill>
          <p:spPr>
            <a:xfrm>
              <a:off x="2847737" y="281409"/>
              <a:ext cx="4585268" cy="522565"/>
            </a:xfrm>
            <a:prstGeom prst="rect">
              <a:avLst/>
            </a:prstGeom>
            <a:noFill/>
            <a:ln w="12700" cap="flat" cmpd="sng">
              <a:noFill/>
              <a:prstDash val="solid"/>
              <a:miter/>
            </a:ln>
          </p:spPr>
        </p:pic>
        <p:sp>
          <p:nvSpPr>
            <p:cNvPr id="70" name="曲线">
              <a:extLst>
                <a:ext uri="{FF2B5EF4-FFF2-40B4-BE49-F238E27FC236}">
                  <a16:creationId xmlns:a16="http://schemas.microsoft.com/office/drawing/2014/main" id="{837DD4D2-15AD-8945-B774-BBC6929DE8AC}"/>
                </a:ext>
              </a:extLst>
            </p:cNvPr>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pic>
        <p:nvPicPr>
          <p:cNvPr id="74" name="图片">
            <a:extLst>
              <a:ext uri="{FF2B5EF4-FFF2-40B4-BE49-F238E27FC236}">
                <a16:creationId xmlns:a16="http://schemas.microsoft.com/office/drawing/2014/main" id="{9C661EB0-B680-6EDE-149A-5CDA00082328}"/>
              </a:ext>
            </a:extLst>
          </p:cNvPr>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5" name="TextBox 14">
            <a:extLst>
              <a:ext uri="{FF2B5EF4-FFF2-40B4-BE49-F238E27FC236}">
                <a16:creationId xmlns:a16="http://schemas.microsoft.com/office/drawing/2014/main" id="{FA8269F4-FADE-6171-FE85-88C27F89383F}"/>
              </a:ext>
            </a:extLst>
          </p:cNvPr>
          <p:cNvSpPr txBox="1"/>
          <p:nvPr/>
        </p:nvSpPr>
        <p:spPr>
          <a:xfrm>
            <a:off x="4151179" y="308400"/>
            <a:ext cx="5034774" cy="830997"/>
          </a:xfrm>
          <a:prstGeom prst="rect">
            <a:avLst/>
          </a:prstGeom>
          <a:noFill/>
        </p:spPr>
        <p:txBody>
          <a:bodyPr wrap="square">
            <a:spAutoFit/>
          </a:bodyPr>
          <a:lstStyle/>
          <a:p>
            <a:r>
              <a:rPr lang="en-IN" b="1" dirty="0">
                <a:solidFill>
                  <a:schemeClr val="bg1"/>
                </a:solidFill>
                <a:latin typeface="Times New Roman" panose="02020603050405020304" pitchFamily="18" charset="0"/>
              </a:rPr>
              <a:t>ASSOCIATION</a:t>
            </a:r>
          </a:p>
          <a:p>
            <a:endParaRPr lang="en-IN" sz="2400" b="1" dirty="0">
              <a:solidFill>
                <a:schemeClr val="bg1"/>
              </a:solidFill>
              <a:latin typeface="Times New Roman" panose="02020603050405020304" pitchFamily="18" charset="0"/>
            </a:endParaRPr>
          </a:p>
        </p:txBody>
      </p:sp>
      <p:sp>
        <p:nvSpPr>
          <p:cNvPr id="3" name="TextBox 2">
            <a:extLst>
              <a:ext uri="{FF2B5EF4-FFF2-40B4-BE49-F238E27FC236}">
                <a16:creationId xmlns:a16="http://schemas.microsoft.com/office/drawing/2014/main" id="{E3D88F65-6D4B-6784-3E78-80A4ED7F76A8}"/>
              </a:ext>
            </a:extLst>
          </p:cNvPr>
          <p:cNvSpPr txBox="1"/>
          <p:nvPr/>
        </p:nvSpPr>
        <p:spPr>
          <a:xfrm>
            <a:off x="276364" y="1158543"/>
            <a:ext cx="5029200" cy="461665"/>
          </a:xfrm>
          <a:prstGeom prst="rect">
            <a:avLst/>
          </a:prstGeom>
          <a:noFill/>
        </p:spPr>
        <p:txBody>
          <a:bodyPr wrap="square">
            <a:spAutoFit/>
          </a:bodyPr>
          <a:lstStyle/>
          <a:p>
            <a:r>
              <a:rPr lang="en-IN" b="1" dirty="0">
                <a:latin typeface="Times New Roman" panose="02020603050405020304" pitchFamily="18" charset="0"/>
              </a:rPr>
              <a:t>Association Rule Mining :</a:t>
            </a:r>
          </a:p>
        </p:txBody>
      </p:sp>
      <p:sp>
        <p:nvSpPr>
          <p:cNvPr id="5" name="TextBox 4">
            <a:extLst>
              <a:ext uri="{FF2B5EF4-FFF2-40B4-BE49-F238E27FC236}">
                <a16:creationId xmlns:a16="http://schemas.microsoft.com/office/drawing/2014/main" id="{028FECD6-5305-1E67-00F4-A3F39399A290}"/>
              </a:ext>
            </a:extLst>
          </p:cNvPr>
          <p:cNvSpPr txBox="1"/>
          <p:nvPr/>
        </p:nvSpPr>
        <p:spPr>
          <a:xfrm>
            <a:off x="276364" y="1589102"/>
            <a:ext cx="9067510" cy="1323439"/>
          </a:xfrm>
          <a:prstGeom prst="rect">
            <a:avLst/>
          </a:prstGeom>
          <a:noFill/>
        </p:spPr>
        <p:txBody>
          <a:bodyPr wrap="square">
            <a:spAutoFit/>
          </a:bodyPr>
          <a:lstStyle/>
          <a:p>
            <a:r>
              <a:rPr lang="en-US" sz="2000" dirty="0">
                <a:latin typeface="Times New Roman" panose="02020603050405020304" pitchFamily="18" charset="0"/>
              </a:rPr>
              <a:t>In the Smart Library Management System, association algorithms such as </a:t>
            </a:r>
            <a:r>
              <a:rPr lang="en-US" sz="2000" dirty="0" err="1">
                <a:latin typeface="Times New Roman" panose="02020603050405020304" pitchFamily="18" charset="0"/>
              </a:rPr>
              <a:t>Apriori</a:t>
            </a:r>
            <a:r>
              <a:rPr lang="en-US" sz="2000" dirty="0">
                <a:latin typeface="Times New Roman" panose="02020603050405020304" pitchFamily="18" charset="0"/>
              </a:rPr>
              <a:t> and FP-Growth are used to find relationships between student details, book categories, departments, and reading preferences. These rules help in understanding user behavior and recommending suitable books to future readers.</a:t>
            </a:r>
            <a:endParaRPr lang="en-IN" sz="2000" dirty="0">
              <a:latin typeface="Times New Roman" panose="02020603050405020304" pitchFamily="18" charset="0"/>
            </a:endParaRPr>
          </a:p>
        </p:txBody>
      </p:sp>
      <p:sp>
        <p:nvSpPr>
          <p:cNvPr id="11" name="TextBox 10">
            <a:extLst>
              <a:ext uri="{FF2B5EF4-FFF2-40B4-BE49-F238E27FC236}">
                <a16:creationId xmlns:a16="http://schemas.microsoft.com/office/drawing/2014/main" id="{B27A009A-3904-640A-576C-6958E62DBB49}"/>
              </a:ext>
            </a:extLst>
          </p:cNvPr>
          <p:cNvSpPr txBox="1"/>
          <p:nvPr/>
        </p:nvSpPr>
        <p:spPr>
          <a:xfrm>
            <a:off x="248212" y="3442619"/>
            <a:ext cx="9366205" cy="2616101"/>
          </a:xfrm>
          <a:prstGeom prst="rect">
            <a:avLst/>
          </a:prstGeom>
          <a:noFill/>
        </p:spPr>
        <p:txBody>
          <a:bodyPr wrap="square">
            <a:spAutoFit/>
          </a:bodyPr>
          <a:lstStyle/>
          <a:p>
            <a:r>
              <a:rPr lang="en-US" sz="2000" dirty="0">
                <a:latin typeface="Times New Roman" panose="02020603050405020304" pitchFamily="18" charset="0"/>
              </a:rPr>
              <a:t>The FP-Growth algorithm is used for association rule mining in the Smart Library Management System. It efficiently identifies frequent patterns between student profiles and library records without generating candidate </a:t>
            </a:r>
            <a:r>
              <a:rPr lang="en-US" sz="2000" dirty="0" err="1">
                <a:latin typeface="Times New Roman" panose="02020603050405020304" pitchFamily="18" charset="0"/>
              </a:rPr>
              <a:t>itemsets</a:t>
            </a:r>
            <a:r>
              <a:rPr lang="en-US" sz="2000" dirty="0">
                <a:latin typeface="Times New Roman" panose="02020603050405020304" pitchFamily="18" charset="0"/>
              </a:rPr>
              <a:t>.</a:t>
            </a:r>
          </a:p>
          <a:p>
            <a:r>
              <a:rPr lang="en-US" sz="2000" dirty="0">
                <a:latin typeface="Times New Roman" panose="02020603050405020304" pitchFamily="18" charset="0"/>
              </a:rPr>
              <a:t>In this project, FP-Growth analyzes attributes such as department, book category, reading preferences, and scholarship status to discover strong IF–THEN association rules. These rules help in understanding reader behavior and are used to recommend suitable books and improve library services.</a:t>
            </a:r>
          </a:p>
          <a:p>
            <a:pPr>
              <a:buNone/>
            </a:pPr>
            <a:endParaRPr lang="en-US" b="1" dirty="0"/>
          </a:p>
        </p:txBody>
      </p:sp>
      <p:sp>
        <p:nvSpPr>
          <p:cNvPr id="16" name="TextBox 15">
            <a:extLst>
              <a:ext uri="{FF2B5EF4-FFF2-40B4-BE49-F238E27FC236}">
                <a16:creationId xmlns:a16="http://schemas.microsoft.com/office/drawing/2014/main" id="{4DA4D878-7112-1A12-9F8E-3095BD7988C0}"/>
              </a:ext>
            </a:extLst>
          </p:cNvPr>
          <p:cNvSpPr txBox="1"/>
          <p:nvPr/>
        </p:nvSpPr>
        <p:spPr>
          <a:xfrm>
            <a:off x="290750" y="2980954"/>
            <a:ext cx="4386860" cy="461665"/>
          </a:xfrm>
          <a:prstGeom prst="rect">
            <a:avLst/>
          </a:prstGeom>
          <a:noFill/>
        </p:spPr>
        <p:txBody>
          <a:bodyPr wrap="square">
            <a:spAutoFit/>
          </a:bodyPr>
          <a:lstStyle/>
          <a:p>
            <a:pPr>
              <a:buNone/>
            </a:pPr>
            <a:r>
              <a:rPr lang="en-US" b="1" dirty="0">
                <a:latin typeface="Times New Roman" panose="02020603050405020304" pitchFamily="18" charset="0"/>
              </a:rPr>
              <a:t>FP-Growth Algorithm:</a:t>
            </a:r>
          </a:p>
        </p:txBody>
      </p:sp>
      <p:sp>
        <p:nvSpPr>
          <p:cNvPr id="18" name="TextBox 17">
            <a:extLst>
              <a:ext uri="{FF2B5EF4-FFF2-40B4-BE49-F238E27FC236}">
                <a16:creationId xmlns:a16="http://schemas.microsoft.com/office/drawing/2014/main" id="{96B78262-E97E-D62B-3365-493BF2CBBB97}"/>
              </a:ext>
            </a:extLst>
          </p:cNvPr>
          <p:cNvSpPr txBox="1"/>
          <p:nvPr/>
        </p:nvSpPr>
        <p:spPr>
          <a:xfrm>
            <a:off x="238180" y="6157066"/>
            <a:ext cx="9183629" cy="1323439"/>
          </a:xfrm>
          <a:prstGeom prst="rect">
            <a:avLst/>
          </a:prstGeom>
          <a:noFill/>
        </p:spPr>
        <p:txBody>
          <a:bodyPr wrap="square">
            <a:spAutoFit/>
          </a:bodyPr>
          <a:lstStyle/>
          <a:p>
            <a:pPr>
              <a:buNone/>
            </a:pPr>
            <a:r>
              <a:rPr lang="en-US" sz="2000" dirty="0">
                <a:latin typeface="Times New Roman" panose="02020603050405020304" pitchFamily="18" charset="0"/>
              </a:rPr>
              <a:t>In the Smart Library Management System, the </a:t>
            </a:r>
            <a:r>
              <a:rPr lang="en-US" sz="2000" dirty="0" err="1">
                <a:latin typeface="Times New Roman" panose="02020603050405020304" pitchFamily="18" charset="0"/>
              </a:rPr>
              <a:t>Apriori</a:t>
            </a:r>
            <a:r>
              <a:rPr lang="en-US" sz="2000" dirty="0">
                <a:latin typeface="Times New Roman" panose="02020603050405020304" pitchFamily="18" charset="0"/>
              </a:rPr>
              <a:t> algorithm is used for association rule mining to identify frequent relationships among student profiles, departments, and book categories. It works by generating frequent </a:t>
            </a:r>
            <a:r>
              <a:rPr lang="en-US" sz="2000" dirty="0" err="1">
                <a:latin typeface="Times New Roman" panose="02020603050405020304" pitchFamily="18" charset="0"/>
              </a:rPr>
              <a:t>itemsets</a:t>
            </a:r>
            <a:r>
              <a:rPr lang="en-US" sz="2000" dirty="0">
                <a:latin typeface="Times New Roman" panose="02020603050405020304" pitchFamily="18" charset="0"/>
              </a:rPr>
              <a:t> based on minimum support and forming IF–THEN association rules using confidence.</a:t>
            </a:r>
          </a:p>
        </p:txBody>
      </p:sp>
      <p:sp>
        <p:nvSpPr>
          <p:cNvPr id="20" name="TextBox 19">
            <a:extLst>
              <a:ext uri="{FF2B5EF4-FFF2-40B4-BE49-F238E27FC236}">
                <a16:creationId xmlns:a16="http://schemas.microsoft.com/office/drawing/2014/main" id="{B9EC1036-A076-5C4F-DC4C-6BBE9BDA40CB}"/>
              </a:ext>
            </a:extLst>
          </p:cNvPr>
          <p:cNvSpPr txBox="1"/>
          <p:nvPr/>
        </p:nvSpPr>
        <p:spPr>
          <a:xfrm>
            <a:off x="276364" y="5646228"/>
            <a:ext cx="5029200" cy="461665"/>
          </a:xfrm>
          <a:prstGeom prst="rect">
            <a:avLst/>
          </a:prstGeom>
          <a:noFill/>
        </p:spPr>
        <p:txBody>
          <a:bodyPr wrap="square">
            <a:spAutoFit/>
          </a:bodyPr>
          <a:lstStyle/>
          <a:p>
            <a:r>
              <a:rPr lang="en-IN" b="1" dirty="0" err="1">
                <a:latin typeface="Times New Roman" panose="02020603050405020304" pitchFamily="18" charset="0"/>
              </a:rPr>
              <a:t>Apriori</a:t>
            </a:r>
            <a:r>
              <a:rPr lang="en-IN" b="1" dirty="0">
                <a:latin typeface="Times New Roman" panose="02020603050405020304" pitchFamily="18" charset="0"/>
              </a:rPr>
              <a:t> Algorithm:</a:t>
            </a:r>
          </a:p>
        </p:txBody>
      </p:sp>
    </p:spTree>
    <p:extLst>
      <p:ext uri="{BB962C8B-B14F-4D97-AF65-F5344CB8AC3E}">
        <p14:creationId xmlns:p14="http://schemas.microsoft.com/office/powerpoint/2010/main" val="2338367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1F3FE8-D284-D657-D76D-B72A20136146}"/>
            </a:ext>
          </a:extLst>
        </p:cNvPr>
        <p:cNvGrpSpPr/>
        <p:nvPr/>
      </p:nvGrpSpPr>
      <p:grpSpPr>
        <a:xfrm>
          <a:off x="0" y="0"/>
          <a:ext cx="0" cy="0"/>
          <a:chOff x="0" y="0"/>
          <a:chExt cx="0" cy="0"/>
        </a:xfrm>
      </p:grpSpPr>
      <p:grpSp>
        <p:nvGrpSpPr>
          <p:cNvPr id="71" name="组合">
            <a:extLst>
              <a:ext uri="{FF2B5EF4-FFF2-40B4-BE49-F238E27FC236}">
                <a16:creationId xmlns:a16="http://schemas.microsoft.com/office/drawing/2014/main" id="{054368EF-0201-2371-6887-CCB2FA7849CE}"/>
              </a:ext>
            </a:extLst>
          </p:cNvPr>
          <p:cNvGrpSpPr>
            <a:grpSpLocks/>
          </p:cNvGrpSpPr>
          <p:nvPr/>
        </p:nvGrpSpPr>
        <p:grpSpPr>
          <a:xfrm>
            <a:off x="2940910" y="120381"/>
            <a:ext cx="5103903" cy="1198311"/>
            <a:chOff x="2667000" y="85008"/>
            <a:chExt cx="5103903" cy="1198311"/>
          </a:xfrm>
        </p:grpSpPr>
        <p:pic>
          <p:nvPicPr>
            <p:cNvPr id="67" name="图片">
              <a:extLst>
                <a:ext uri="{FF2B5EF4-FFF2-40B4-BE49-F238E27FC236}">
                  <a16:creationId xmlns:a16="http://schemas.microsoft.com/office/drawing/2014/main" id="{CCCDCBBA-CD79-5D0D-48E3-812F0429E545}"/>
                </a:ext>
              </a:extLst>
            </p:cNvPr>
            <p:cNvPicPr>
              <a:picLocks/>
            </p:cNvPicPr>
            <p:nvPr/>
          </p:nvPicPr>
          <p:blipFill>
            <a:blip r:embed="rId3" cstate="print"/>
            <a:stretch>
              <a:fillRect/>
            </a:stretch>
          </p:blipFill>
          <p:spPr>
            <a:xfrm>
              <a:off x="2667000" y="85008"/>
              <a:ext cx="5103903" cy="1198311"/>
            </a:xfrm>
            <a:prstGeom prst="rect">
              <a:avLst/>
            </a:prstGeom>
            <a:noFill/>
            <a:ln w="12700" cap="flat" cmpd="sng">
              <a:noFill/>
              <a:prstDash val="solid"/>
              <a:miter/>
            </a:ln>
          </p:spPr>
        </p:pic>
        <p:pic>
          <p:nvPicPr>
            <p:cNvPr id="68" name="图片">
              <a:extLst>
                <a:ext uri="{FF2B5EF4-FFF2-40B4-BE49-F238E27FC236}">
                  <a16:creationId xmlns:a16="http://schemas.microsoft.com/office/drawing/2014/main" id="{1670D444-49B3-A686-32D4-FD38D3B62F63}"/>
                </a:ext>
              </a:extLst>
            </p:cNvPr>
            <p:cNvPicPr>
              <a:picLocks/>
            </p:cNvPicPr>
            <p:nvPr/>
          </p:nvPicPr>
          <p:blipFill>
            <a:blip r:embed="rId4" cstate="print"/>
            <a:stretch>
              <a:fillRect/>
            </a:stretch>
          </p:blipFill>
          <p:spPr>
            <a:xfrm>
              <a:off x="2722007" y="124299"/>
              <a:ext cx="4997767" cy="1092279"/>
            </a:xfrm>
            <a:prstGeom prst="rect">
              <a:avLst/>
            </a:prstGeom>
            <a:noFill/>
            <a:ln w="12700" cap="flat" cmpd="sng">
              <a:noFill/>
              <a:prstDash val="solid"/>
              <a:miter/>
            </a:ln>
          </p:spPr>
        </p:pic>
        <p:pic>
          <p:nvPicPr>
            <p:cNvPr id="69" name="图片">
              <a:extLst>
                <a:ext uri="{FF2B5EF4-FFF2-40B4-BE49-F238E27FC236}">
                  <a16:creationId xmlns:a16="http://schemas.microsoft.com/office/drawing/2014/main" id="{21D0993D-FEF5-3632-7CB6-5796A8262574}"/>
                </a:ext>
              </a:extLst>
            </p:cNvPr>
            <p:cNvPicPr>
              <a:picLocks/>
            </p:cNvPicPr>
            <p:nvPr/>
          </p:nvPicPr>
          <p:blipFill>
            <a:blip r:embed="rId5" cstate="print"/>
            <a:stretch>
              <a:fillRect/>
            </a:stretch>
          </p:blipFill>
          <p:spPr>
            <a:xfrm>
              <a:off x="2847737" y="281409"/>
              <a:ext cx="4585268" cy="522565"/>
            </a:xfrm>
            <a:prstGeom prst="rect">
              <a:avLst/>
            </a:prstGeom>
            <a:noFill/>
            <a:ln w="12700" cap="flat" cmpd="sng">
              <a:noFill/>
              <a:prstDash val="solid"/>
              <a:miter/>
            </a:ln>
          </p:spPr>
        </p:pic>
        <p:sp>
          <p:nvSpPr>
            <p:cNvPr id="70" name="曲线">
              <a:extLst>
                <a:ext uri="{FF2B5EF4-FFF2-40B4-BE49-F238E27FC236}">
                  <a16:creationId xmlns:a16="http://schemas.microsoft.com/office/drawing/2014/main" id="{5C99AFD8-E840-B887-7D05-85181A5FB53F}"/>
                </a:ext>
              </a:extLst>
            </p:cNvPr>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pic>
        <p:nvPicPr>
          <p:cNvPr id="74" name="图片">
            <a:extLst>
              <a:ext uri="{FF2B5EF4-FFF2-40B4-BE49-F238E27FC236}">
                <a16:creationId xmlns:a16="http://schemas.microsoft.com/office/drawing/2014/main" id="{07F4E4AB-A82E-289E-8F43-7886E3A28AA7}"/>
              </a:ext>
            </a:extLst>
          </p:cNvPr>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5" name="TextBox 14">
            <a:extLst>
              <a:ext uri="{FF2B5EF4-FFF2-40B4-BE49-F238E27FC236}">
                <a16:creationId xmlns:a16="http://schemas.microsoft.com/office/drawing/2014/main" id="{D6800F0B-51D5-E5DF-E647-DDE8B608DB60}"/>
              </a:ext>
            </a:extLst>
          </p:cNvPr>
          <p:cNvSpPr txBox="1"/>
          <p:nvPr/>
        </p:nvSpPr>
        <p:spPr>
          <a:xfrm>
            <a:off x="4237090" y="307152"/>
            <a:ext cx="5034774" cy="1200329"/>
          </a:xfrm>
          <a:prstGeom prst="rect">
            <a:avLst/>
          </a:prstGeom>
          <a:noFill/>
        </p:spPr>
        <p:txBody>
          <a:bodyPr wrap="square">
            <a:spAutoFit/>
          </a:bodyPr>
          <a:lstStyle/>
          <a:p>
            <a:r>
              <a:rPr lang="en-IN" b="1" dirty="0">
                <a:solidFill>
                  <a:schemeClr val="bg1"/>
                </a:solidFill>
                <a:latin typeface="Times New Roman" panose="02020603050405020304" pitchFamily="18" charset="0"/>
              </a:rPr>
              <a:t>ASSOCIATION</a:t>
            </a:r>
          </a:p>
          <a:p>
            <a:endParaRPr lang="en-IN" b="1" dirty="0">
              <a:solidFill>
                <a:schemeClr val="bg1"/>
              </a:solidFill>
              <a:latin typeface="Times New Roman" panose="02020603050405020304" pitchFamily="18" charset="0"/>
            </a:endParaRPr>
          </a:p>
          <a:p>
            <a:endParaRPr lang="en-IN" sz="2400" b="1" dirty="0">
              <a:solidFill>
                <a:schemeClr val="bg1"/>
              </a:solidFill>
              <a:latin typeface="Times New Roman" panose="02020603050405020304" pitchFamily="18" charset="0"/>
            </a:endParaRPr>
          </a:p>
        </p:txBody>
      </p:sp>
      <p:sp>
        <p:nvSpPr>
          <p:cNvPr id="9" name="AutoShape 8">
            <a:extLst>
              <a:ext uri="{FF2B5EF4-FFF2-40B4-BE49-F238E27FC236}">
                <a16:creationId xmlns:a16="http://schemas.microsoft.com/office/drawing/2014/main" id="{E97FC587-1843-9BF1-FD3D-0DE193F1A7C3}"/>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TextBox 13">
            <a:extLst>
              <a:ext uri="{FF2B5EF4-FFF2-40B4-BE49-F238E27FC236}">
                <a16:creationId xmlns:a16="http://schemas.microsoft.com/office/drawing/2014/main" id="{B3118582-1DB3-F98A-CCB4-0BC485FC9208}"/>
              </a:ext>
            </a:extLst>
          </p:cNvPr>
          <p:cNvSpPr txBox="1"/>
          <p:nvPr/>
        </p:nvSpPr>
        <p:spPr>
          <a:xfrm>
            <a:off x="230290" y="2305212"/>
            <a:ext cx="4585268" cy="830997"/>
          </a:xfrm>
          <a:prstGeom prst="rect">
            <a:avLst/>
          </a:prstGeom>
          <a:noFill/>
        </p:spPr>
        <p:txBody>
          <a:bodyPr wrap="square">
            <a:spAutoFit/>
          </a:bodyPr>
          <a:lstStyle/>
          <a:p>
            <a:r>
              <a:rPr lang="en-US" sz="1600" dirty="0">
                <a:latin typeface="Times New Roman" panose="02020603050405020304" pitchFamily="18" charset="0"/>
              </a:rPr>
              <a:t>FP-Growth algorithm is used to find associations between </a:t>
            </a:r>
            <a:r>
              <a:rPr lang="en-US" sz="1600" dirty="0" smtClean="0">
                <a:latin typeface="Times New Roman" panose="02020603050405020304" pitchFamily="18" charset="0"/>
              </a:rPr>
              <a:t>student </a:t>
            </a:r>
            <a:r>
              <a:rPr lang="en-US" sz="1600" dirty="0">
                <a:latin typeface="Times New Roman" panose="02020603050405020304" pitchFamily="18" charset="0"/>
              </a:rPr>
              <a:t>details and book </a:t>
            </a:r>
            <a:r>
              <a:rPr lang="en-US" sz="1600" dirty="0" smtClean="0">
                <a:latin typeface="Times New Roman" panose="02020603050405020304" pitchFamily="18" charset="0"/>
              </a:rPr>
              <a:t>preferences </a:t>
            </a:r>
            <a:r>
              <a:rPr lang="en-US" sz="1600" dirty="0">
                <a:latin typeface="Times New Roman" panose="02020603050405020304" pitchFamily="18" charset="0"/>
              </a:rPr>
              <a:t>in the Smart Library Management System. </a:t>
            </a:r>
            <a:endParaRPr lang="en-IN" sz="1600" dirty="0">
              <a:latin typeface="Times New Roman" panose="02020603050405020304" pitchFamily="18" charset="0"/>
            </a:endParaRPr>
          </a:p>
        </p:txBody>
      </p:sp>
      <p:sp>
        <p:nvSpPr>
          <p:cNvPr id="19" name="TextBox 18">
            <a:extLst>
              <a:ext uri="{FF2B5EF4-FFF2-40B4-BE49-F238E27FC236}">
                <a16:creationId xmlns:a16="http://schemas.microsoft.com/office/drawing/2014/main" id="{A3D7938E-EF01-0C73-6446-AE02A460305A}"/>
              </a:ext>
            </a:extLst>
          </p:cNvPr>
          <p:cNvSpPr txBox="1"/>
          <p:nvPr/>
        </p:nvSpPr>
        <p:spPr>
          <a:xfrm>
            <a:off x="261080" y="1670629"/>
            <a:ext cx="5029200" cy="461665"/>
          </a:xfrm>
          <a:prstGeom prst="rect">
            <a:avLst/>
          </a:prstGeom>
          <a:noFill/>
        </p:spPr>
        <p:txBody>
          <a:bodyPr wrap="square">
            <a:spAutoFit/>
          </a:bodyPr>
          <a:lstStyle/>
          <a:p>
            <a:r>
              <a:rPr lang="en-IN" b="1" dirty="0">
                <a:latin typeface="Times New Roman" panose="02020603050405020304" pitchFamily="18" charset="0"/>
              </a:rPr>
              <a:t>FP-Growth algorithm:</a:t>
            </a:r>
          </a:p>
        </p:txBody>
      </p:sp>
      <p:sp>
        <p:nvSpPr>
          <p:cNvPr id="22" name="TextBox 21">
            <a:extLst>
              <a:ext uri="{FF2B5EF4-FFF2-40B4-BE49-F238E27FC236}">
                <a16:creationId xmlns:a16="http://schemas.microsoft.com/office/drawing/2014/main" id="{3824F043-79E0-D261-3525-663FD470073F}"/>
              </a:ext>
            </a:extLst>
          </p:cNvPr>
          <p:cNvSpPr txBox="1"/>
          <p:nvPr/>
        </p:nvSpPr>
        <p:spPr>
          <a:xfrm>
            <a:off x="4993656" y="2235820"/>
            <a:ext cx="5029200" cy="1077218"/>
          </a:xfrm>
          <a:prstGeom prst="rect">
            <a:avLst/>
          </a:prstGeom>
          <a:noFill/>
        </p:spPr>
        <p:txBody>
          <a:bodyPr wrap="square">
            <a:spAutoFit/>
          </a:bodyPr>
          <a:lstStyle/>
          <a:p>
            <a:r>
              <a:rPr lang="en-US" sz="1600" dirty="0" err="1">
                <a:latin typeface="Times New Roman" panose="02020603050405020304" pitchFamily="18" charset="0"/>
              </a:rPr>
              <a:t>Apriori</a:t>
            </a:r>
            <a:r>
              <a:rPr lang="en-US" sz="1600" dirty="0">
                <a:latin typeface="Times New Roman" panose="02020603050405020304" pitchFamily="18" charset="0"/>
              </a:rPr>
              <a:t> algorithm is used to perform association rule mining on library and student data. First, the dataset is scanned to find frequent </a:t>
            </a:r>
            <a:r>
              <a:rPr lang="en-US" sz="1600" dirty="0" smtClean="0">
                <a:latin typeface="Times New Roman" panose="02020603050405020304" pitchFamily="18" charset="0"/>
              </a:rPr>
              <a:t>item sets </a:t>
            </a:r>
            <a:r>
              <a:rPr lang="en-US" sz="1600" dirty="0">
                <a:latin typeface="Times New Roman" panose="02020603050405020304" pitchFamily="18" charset="0"/>
              </a:rPr>
              <a:t>based on a minimum support value.</a:t>
            </a:r>
            <a:endParaRPr lang="en-IN" sz="1600" dirty="0">
              <a:latin typeface="Times New Roman" panose="02020603050405020304" pitchFamily="18" charset="0"/>
            </a:endParaRPr>
          </a:p>
        </p:txBody>
      </p:sp>
      <p:sp>
        <p:nvSpPr>
          <p:cNvPr id="24" name="TextBox 23">
            <a:extLst>
              <a:ext uri="{FF2B5EF4-FFF2-40B4-BE49-F238E27FC236}">
                <a16:creationId xmlns:a16="http://schemas.microsoft.com/office/drawing/2014/main" id="{CC3710A4-16FA-362E-159B-983EC76C7D9A}"/>
              </a:ext>
            </a:extLst>
          </p:cNvPr>
          <p:cNvSpPr txBox="1"/>
          <p:nvPr/>
        </p:nvSpPr>
        <p:spPr>
          <a:xfrm>
            <a:off x="5029200" y="1714526"/>
            <a:ext cx="5029200" cy="461665"/>
          </a:xfrm>
          <a:prstGeom prst="rect">
            <a:avLst/>
          </a:prstGeom>
          <a:noFill/>
        </p:spPr>
        <p:txBody>
          <a:bodyPr wrap="square">
            <a:spAutoFit/>
          </a:bodyPr>
          <a:lstStyle/>
          <a:p>
            <a:r>
              <a:rPr lang="en-IN" b="1" dirty="0" err="1">
                <a:latin typeface="Times New Roman" panose="02020603050405020304" pitchFamily="18" charset="0"/>
              </a:rPr>
              <a:t>Apriori</a:t>
            </a:r>
            <a:r>
              <a:rPr lang="en-IN" b="1" dirty="0">
                <a:latin typeface="Times New Roman" panose="02020603050405020304" pitchFamily="18" charset="0"/>
              </a:rPr>
              <a:t> Algorithm: </a:t>
            </a:r>
          </a:p>
        </p:txBody>
      </p:sp>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0290" y="3593685"/>
            <a:ext cx="4374152" cy="3295772"/>
          </a:xfrm>
          <a:prstGeom prst="rect">
            <a:avLst/>
          </a:prstGeom>
        </p:spPr>
      </p:pic>
      <p:pic>
        <p:nvPicPr>
          <p:cNvPr id="3" name="Picture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07172" y="3593685"/>
            <a:ext cx="4374152" cy="3295772"/>
          </a:xfrm>
          <a:prstGeom prst="rect">
            <a:avLst/>
          </a:prstGeom>
        </p:spPr>
      </p:pic>
    </p:spTree>
    <p:extLst>
      <p:ext uri="{BB962C8B-B14F-4D97-AF65-F5344CB8AC3E}">
        <p14:creationId xmlns:p14="http://schemas.microsoft.com/office/powerpoint/2010/main" val="2054151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1F3FE8-D284-D657-D76D-B72A20136146}"/>
            </a:ext>
          </a:extLst>
        </p:cNvPr>
        <p:cNvGrpSpPr/>
        <p:nvPr/>
      </p:nvGrpSpPr>
      <p:grpSpPr>
        <a:xfrm>
          <a:off x="0" y="0"/>
          <a:ext cx="0" cy="0"/>
          <a:chOff x="0" y="0"/>
          <a:chExt cx="0" cy="0"/>
        </a:xfrm>
      </p:grpSpPr>
      <p:grpSp>
        <p:nvGrpSpPr>
          <p:cNvPr id="71" name="组合">
            <a:extLst>
              <a:ext uri="{FF2B5EF4-FFF2-40B4-BE49-F238E27FC236}">
                <a16:creationId xmlns:a16="http://schemas.microsoft.com/office/drawing/2014/main" id="{054368EF-0201-2371-6887-CCB2FA7849CE}"/>
              </a:ext>
            </a:extLst>
          </p:cNvPr>
          <p:cNvGrpSpPr>
            <a:grpSpLocks/>
          </p:cNvGrpSpPr>
          <p:nvPr/>
        </p:nvGrpSpPr>
        <p:grpSpPr>
          <a:xfrm>
            <a:off x="2940910" y="120381"/>
            <a:ext cx="5103903" cy="1198311"/>
            <a:chOff x="2667000" y="85008"/>
            <a:chExt cx="5103903" cy="1198311"/>
          </a:xfrm>
        </p:grpSpPr>
        <p:pic>
          <p:nvPicPr>
            <p:cNvPr id="67" name="图片">
              <a:extLst>
                <a:ext uri="{FF2B5EF4-FFF2-40B4-BE49-F238E27FC236}">
                  <a16:creationId xmlns:a16="http://schemas.microsoft.com/office/drawing/2014/main" id="{CCCDCBBA-CD79-5D0D-48E3-812F0429E545}"/>
                </a:ext>
              </a:extLst>
            </p:cNvPr>
            <p:cNvPicPr>
              <a:picLocks/>
            </p:cNvPicPr>
            <p:nvPr/>
          </p:nvPicPr>
          <p:blipFill>
            <a:blip r:embed="rId3" cstate="print"/>
            <a:stretch>
              <a:fillRect/>
            </a:stretch>
          </p:blipFill>
          <p:spPr>
            <a:xfrm>
              <a:off x="2667000" y="85008"/>
              <a:ext cx="5103903" cy="1198311"/>
            </a:xfrm>
            <a:prstGeom prst="rect">
              <a:avLst/>
            </a:prstGeom>
            <a:noFill/>
            <a:ln w="12700" cap="flat" cmpd="sng">
              <a:noFill/>
              <a:prstDash val="solid"/>
              <a:miter/>
            </a:ln>
          </p:spPr>
        </p:pic>
        <p:pic>
          <p:nvPicPr>
            <p:cNvPr id="68" name="图片">
              <a:extLst>
                <a:ext uri="{FF2B5EF4-FFF2-40B4-BE49-F238E27FC236}">
                  <a16:creationId xmlns:a16="http://schemas.microsoft.com/office/drawing/2014/main" id="{1670D444-49B3-A686-32D4-FD38D3B62F63}"/>
                </a:ext>
              </a:extLst>
            </p:cNvPr>
            <p:cNvPicPr>
              <a:picLocks/>
            </p:cNvPicPr>
            <p:nvPr/>
          </p:nvPicPr>
          <p:blipFill>
            <a:blip r:embed="rId4" cstate="print"/>
            <a:stretch>
              <a:fillRect/>
            </a:stretch>
          </p:blipFill>
          <p:spPr>
            <a:xfrm>
              <a:off x="2722007" y="124299"/>
              <a:ext cx="4997767" cy="1092279"/>
            </a:xfrm>
            <a:prstGeom prst="rect">
              <a:avLst/>
            </a:prstGeom>
            <a:noFill/>
            <a:ln w="12700" cap="flat" cmpd="sng">
              <a:noFill/>
              <a:prstDash val="solid"/>
              <a:miter/>
            </a:ln>
          </p:spPr>
        </p:pic>
        <p:pic>
          <p:nvPicPr>
            <p:cNvPr id="69" name="图片">
              <a:extLst>
                <a:ext uri="{FF2B5EF4-FFF2-40B4-BE49-F238E27FC236}">
                  <a16:creationId xmlns:a16="http://schemas.microsoft.com/office/drawing/2014/main" id="{21D0993D-FEF5-3632-7CB6-5796A8262574}"/>
                </a:ext>
              </a:extLst>
            </p:cNvPr>
            <p:cNvPicPr>
              <a:picLocks/>
            </p:cNvPicPr>
            <p:nvPr/>
          </p:nvPicPr>
          <p:blipFill>
            <a:blip r:embed="rId5" cstate="print"/>
            <a:stretch>
              <a:fillRect/>
            </a:stretch>
          </p:blipFill>
          <p:spPr>
            <a:xfrm>
              <a:off x="2847737" y="281409"/>
              <a:ext cx="4585268" cy="522565"/>
            </a:xfrm>
            <a:prstGeom prst="rect">
              <a:avLst/>
            </a:prstGeom>
            <a:noFill/>
            <a:ln w="12700" cap="flat" cmpd="sng">
              <a:noFill/>
              <a:prstDash val="solid"/>
              <a:miter/>
            </a:ln>
          </p:spPr>
        </p:pic>
        <p:sp>
          <p:nvSpPr>
            <p:cNvPr id="70" name="曲线">
              <a:extLst>
                <a:ext uri="{FF2B5EF4-FFF2-40B4-BE49-F238E27FC236}">
                  <a16:creationId xmlns:a16="http://schemas.microsoft.com/office/drawing/2014/main" id="{5C99AFD8-E840-B887-7D05-85181A5FB53F}"/>
                </a:ext>
              </a:extLst>
            </p:cNvPr>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pic>
        <p:nvPicPr>
          <p:cNvPr id="74" name="图片">
            <a:extLst>
              <a:ext uri="{FF2B5EF4-FFF2-40B4-BE49-F238E27FC236}">
                <a16:creationId xmlns:a16="http://schemas.microsoft.com/office/drawing/2014/main" id="{07F4E4AB-A82E-289E-8F43-7886E3A28AA7}"/>
              </a:ext>
            </a:extLst>
          </p:cNvPr>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5" name="TextBox 14">
            <a:extLst>
              <a:ext uri="{FF2B5EF4-FFF2-40B4-BE49-F238E27FC236}">
                <a16:creationId xmlns:a16="http://schemas.microsoft.com/office/drawing/2014/main" id="{D6800F0B-51D5-E5DF-E647-DDE8B608DB60}"/>
              </a:ext>
            </a:extLst>
          </p:cNvPr>
          <p:cNvSpPr txBox="1"/>
          <p:nvPr/>
        </p:nvSpPr>
        <p:spPr>
          <a:xfrm>
            <a:off x="4237090" y="307152"/>
            <a:ext cx="5034774" cy="1200329"/>
          </a:xfrm>
          <a:prstGeom prst="rect">
            <a:avLst/>
          </a:prstGeom>
          <a:noFill/>
        </p:spPr>
        <p:txBody>
          <a:bodyPr wrap="square">
            <a:spAutoFit/>
          </a:bodyPr>
          <a:lstStyle/>
          <a:p>
            <a:r>
              <a:rPr lang="en-US" b="1" dirty="0" smtClean="0">
                <a:solidFill>
                  <a:schemeClr val="bg1"/>
                </a:solidFill>
                <a:latin typeface="Times New Roman" panose="02020603050405020304" pitchFamily="18" charset="0"/>
              </a:rPr>
              <a:t>CLUSTERING</a:t>
            </a:r>
            <a:endParaRPr lang="en-IN" b="1" dirty="0">
              <a:solidFill>
                <a:schemeClr val="bg1"/>
              </a:solidFill>
              <a:latin typeface="Times New Roman" panose="02020603050405020304" pitchFamily="18" charset="0"/>
            </a:endParaRPr>
          </a:p>
          <a:p>
            <a:endParaRPr lang="en-IN" b="1" dirty="0">
              <a:solidFill>
                <a:schemeClr val="bg1"/>
              </a:solidFill>
              <a:latin typeface="Times New Roman" panose="02020603050405020304" pitchFamily="18" charset="0"/>
            </a:endParaRPr>
          </a:p>
          <a:p>
            <a:endParaRPr lang="en-IN" sz="2400" b="1" dirty="0">
              <a:solidFill>
                <a:schemeClr val="bg1"/>
              </a:solidFill>
              <a:latin typeface="Times New Roman" panose="02020603050405020304" pitchFamily="18" charset="0"/>
            </a:endParaRPr>
          </a:p>
        </p:txBody>
      </p:sp>
      <p:sp>
        <p:nvSpPr>
          <p:cNvPr id="9" name="AutoShape 8">
            <a:extLst>
              <a:ext uri="{FF2B5EF4-FFF2-40B4-BE49-F238E27FC236}">
                <a16:creationId xmlns:a16="http://schemas.microsoft.com/office/drawing/2014/main" id="{E97FC587-1843-9BF1-FD3D-0DE193F1A7C3}"/>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3"/>
          <p:cNvSpPr/>
          <p:nvPr/>
        </p:nvSpPr>
        <p:spPr>
          <a:xfrm>
            <a:off x="235472" y="1218636"/>
            <a:ext cx="8923490" cy="1569660"/>
          </a:xfrm>
          <a:prstGeom prst="rect">
            <a:avLst/>
          </a:prstGeom>
        </p:spPr>
        <p:txBody>
          <a:bodyPr wrap="square">
            <a:spAutoFit/>
          </a:bodyPr>
          <a:lstStyle/>
          <a:p>
            <a:r>
              <a:rPr lang="en-IN" dirty="0">
                <a:latin typeface="Times New Roman" panose="02020603050405020304" pitchFamily="18" charset="0"/>
              </a:rPr>
              <a:t>Clustering in Data Mining is a technique used to group similar data points together into clusters, such that</a:t>
            </a:r>
            <a:r>
              <a:rPr lang="en-IN" dirty="0" smtClean="0">
                <a:latin typeface="Times New Roman" panose="02020603050405020304" pitchFamily="18" charset="0"/>
              </a:rPr>
              <a:t>:</a:t>
            </a:r>
            <a:endParaRPr lang="en-IN" dirty="0">
              <a:latin typeface="Times New Roman" panose="02020603050405020304" pitchFamily="18" charset="0"/>
            </a:endParaRPr>
          </a:p>
          <a:p>
            <a:r>
              <a:rPr lang="en-IN" dirty="0">
                <a:latin typeface="Times New Roman" panose="02020603050405020304" pitchFamily="18" charset="0"/>
              </a:rPr>
              <a:t>Objects in the same cluster are more </a:t>
            </a:r>
            <a:r>
              <a:rPr lang="en-IN" dirty="0" smtClean="0">
                <a:latin typeface="Times New Roman" panose="02020603050405020304" pitchFamily="18" charset="0"/>
              </a:rPr>
              <a:t>similar</a:t>
            </a:r>
          </a:p>
          <a:p>
            <a:r>
              <a:rPr lang="en-IN" dirty="0" smtClean="0">
                <a:latin typeface="Times New Roman" panose="02020603050405020304" pitchFamily="18" charset="0"/>
              </a:rPr>
              <a:t>Objects </a:t>
            </a:r>
            <a:r>
              <a:rPr lang="en-IN" dirty="0">
                <a:latin typeface="Times New Roman" panose="02020603050405020304" pitchFamily="18" charset="0"/>
              </a:rPr>
              <a:t>in different clusters are more dissimilar</a:t>
            </a:r>
          </a:p>
        </p:txBody>
      </p:sp>
      <p:sp>
        <p:nvSpPr>
          <p:cNvPr id="5" name="Rectangle 4"/>
          <p:cNvSpPr/>
          <p:nvPr/>
        </p:nvSpPr>
        <p:spPr>
          <a:xfrm>
            <a:off x="235472" y="2817691"/>
            <a:ext cx="6474468" cy="461665"/>
          </a:xfrm>
          <a:prstGeom prst="rect">
            <a:avLst/>
          </a:prstGeom>
        </p:spPr>
        <p:txBody>
          <a:bodyPr wrap="square">
            <a:spAutoFit/>
          </a:bodyPr>
          <a:lstStyle/>
          <a:p>
            <a:r>
              <a:rPr lang="en-IN" b="1" dirty="0">
                <a:latin typeface="Times New Roman" panose="02020603050405020304" pitchFamily="18" charset="0"/>
              </a:rPr>
              <a:t>K-Means </a:t>
            </a:r>
            <a:r>
              <a:rPr lang="en-IN" b="1" dirty="0" smtClean="0">
                <a:latin typeface="Times New Roman" panose="02020603050405020304" pitchFamily="18" charset="0"/>
              </a:rPr>
              <a:t>Clustering:</a:t>
            </a:r>
            <a:endParaRPr lang="en-IN" b="1" dirty="0">
              <a:latin typeface="Times New Roman" panose="02020603050405020304" pitchFamily="18" charset="0"/>
            </a:endParaRPr>
          </a:p>
        </p:txBody>
      </p:sp>
      <p:sp>
        <p:nvSpPr>
          <p:cNvPr id="6" name="Rectangle 5"/>
          <p:cNvSpPr/>
          <p:nvPr/>
        </p:nvSpPr>
        <p:spPr>
          <a:xfrm>
            <a:off x="235472" y="3283165"/>
            <a:ext cx="9618398" cy="1569660"/>
          </a:xfrm>
          <a:prstGeom prst="rect">
            <a:avLst/>
          </a:prstGeom>
        </p:spPr>
        <p:txBody>
          <a:bodyPr wrap="square">
            <a:spAutoFit/>
          </a:bodyPr>
          <a:lstStyle/>
          <a:p>
            <a:r>
              <a:rPr lang="en-IN" dirty="0" smtClean="0">
                <a:latin typeface="Times New Roman" panose="02020603050405020304" pitchFamily="18" charset="0"/>
              </a:rPr>
              <a:t>K-Means Clustering is a partitioning method that divides data into K clusters. Choose number of clusters K Initialize K centroids randomly  Assign each data point to the nearest centroid Recalculate centroids (mean of points)Repeat until centroids stop changing</a:t>
            </a:r>
            <a:endParaRPr lang="en-IN" dirty="0">
              <a:latin typeface="Times New Roman" panose="02020603050405020304" pitchFamily="18" charset="0"/>
            </a:endParaRPr>
          </a:p>
        </p:txBody>
      </p:sp>
      <p:sp>
        <p:nvSpPr>
          <p:cNvPr id="7" name="Rectangle 6"/>
          <p:cNvSpPr/>
          <p:nvPr/>
        </p:nvSpPr>
        <p:spPr>
          <a:xfrm>
            <a:off x="235472" y="4798272"/>
            <a:ext cx="5133705" cy="461665"/>
          </a:xfrm>
          <a:prstGeom prst="rect">
            <a:avLst/>
          </a:prstGeom>
        </p:spPr>
        <p:txBody>
          <a:bodyPr wrap="square">
            <a:spAutoFit/>
          </a:bodyPr>
          <a:lstStyle/>
          <a:p>
            <a:r>
              <a:rPr lang="en-IN" b="1" dirty="0">
                <a:latin typeface="Times New Roman" panose="02020603050405020304" pitchFamily="18" charset="0"/>
              </a:rPr>
              <a:t>Hierarchical </a:t>
            </a:r>
            <a:r>
              <a:rPr lang="en-IN" b="1" dirty="0" smtClean="0">
                <a:latin typeface="Times New Roman" panose="02020603050405020304" pitchFamily="18" charset="0"/>
              </a:rPr>
              <a:t>Clustering:</a:t>
            </a:r>
            <a:endParaRPr lang="en-IN" b="1" dirty="0">
              <a:latin typeface="Times New Roman" panose="02020603050405020304" pitchFamily="18" charset="0"/>
            </a:endParaRPr>
          </a:p>
        </p:txBody>
      </p:sp>
      <p:sp>
        <p:nvSpPr>
          <p:cNvPr id="8" name="Rectangle 7"/>
          <p:cNvSpPr/>
          <p:nvPr/>
        </p:nvSpPr>
        <p:spPr>
          <a:xfrm>
            <a:off x="229306" y="5213770"/>
            <a:ext cx="9624564" cy="1938992"/>
          </a:xfrm>
          <a:prstGeom prst="rect">
            <a:avLst/>
          </a:prstGeom>
        </p:spPr>
        <p:txBody>
          <a:bodyPr wrap="square">
            <a:spAutoFit/>
          </a:bodyPr>
          <a:lstStyle/>
          <a:p>
            <a:r>
              <a:rPr lang="en-IN" dirty="0" smtClean="0">
                <a:latin typeface="Times New Roman" panose="02020603050405020304" pitchFamily="18" charset="0"/>
              </a:rPr>
              <a:t>Hierarchical clustering builds a tree structure of data. Types Agglomerative Start with each point as a cluster Merge closest clusters step by step Divisive Start with all data in one cluster Split into smaller clusters Compute distance between all points Merge closest clusters Update distance matrix Repeat until one cluster remains</a:t>
            </a:r>
            <a:endParaRPr lang="en-IN" dirty="0">
              <a:latin typeface="Times New Roman" panose="02020603050405020304" pitchFamily="18" charset="0"/>
            </a:endParaRPr>
          </a:p>
        </p:txBody>
      </p:sp>
    </p:spTree>
    <p:extLst>
      <p:ext uri="{BB962C8B-B14F-4D97-AF65-F5344CB8AC3E}">
        <p14:creationId xmlns:p14="http://schemas.microsoft.com/office/powerpoint/2010/main" val="2191825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1F3FE8-D284-D657-D76D-B72A20136146}"/>
            </a:ext>
          </a:extLst>
        </p:cNvPr>
        <p:cNvGrpSpPr/>
        <p:nvPr/>
      </p:nvGrpSpPr>
      <p:grpSpPr>
        <a:xfrm>
          <a:off x="0" y="0"/>
          <a:ext cx="0" cy="0"/>
          <a:chOff x="0" y="0"/>
          <a:chExt cx="0" cy="0"/>
        </a:xfrm>
      </p:grpSpPr>
      <p:grpSp>
        <p:nvGrpSpPr>
          <p:cNvPr id="71" name="组合">
            <a:extLst>
              <a:ext uri="{FF2B5EF4-FFF2-40B4-BE49-F238E27FC236}">
                <a16:creationId xmlns:a16="http://schemas.microsoft.com/office/drawing/2014/main" id="{054368EF-0201-2371-6887-CCB2FA7849CE}"/>
              </a:ext>
            </a:extLst>
          </p:cNvPr>
          <p:cNvGrpSpPr>
            <a:grpSpLocks/>
          </p:cNvGrpSpPr>
          <p:nvPr/>
        </p:nvGrpSpPr>
        <p:grpSpPr>
          <a:xfrm>
            <a:off x="2940910" y="120381"/>
            <a:ext cx="5103903" cy="1198311"/>
            <a:chOff x="2667000" y="85008"/>
            <a:chExt cx="5103903" cy="1198311"/>
          </a:xfrm>
        </p:grpSpPr>
        <p:pic>
          <p:nvPicPr>
            <p:cNvPr id="67" name="图片">
              <a:extLst>
                <a:ext uri="{FF2B5EF4-FFF2-40B4-BE49-F238E27FC236}">
                  <a16:creationId xmlns:a16="http://schemas.microsoft.com/office/drawing/2014/main" id="{CCCDCBBA-CD79-5D0D-48E3-812F0429E545}"/>
                </a:ext>
              </a:extLst>
            </p:cNvPr>
            <p:cNvPicPr>
              <a:picLocks/>
            </p:cNvPicPr>
            <p:nvPr/>
          </p:nvPicPr>
          <p:blipFill>
            <a:blip r:embed="rId3" cstate="print"/>
            <a:stretch>
              <a:fillRect/>
            </a:stretch>
          </p:blipFill>
          <p:spPr>
            <a:xfrm>
              <a:off x="2667000" y="85008"/>
              <a:ext cx="5103903" cy="1198311"/>
            </a:xfrm>
            <a:prstGeom prst="rect">
              <a:avLst/>
            </a:prstGeom>
            <a:noFill/>
            <a:ln w="12700" cap="flat" cmpd="sng">
              <a:noFill/>
              <a:prstDash val="solid"/>
              <a:miter/>
            </a:ln>
          </p:spPr>
        </p:pic>
        <p:pic>
          <p:nvPicPr>
            <p:cNvPr id="68" name="图片">
              <a:extLst>
                <a:ext uri="{FF2B5EF4-FFF2-40B4-BE49-F238E27FC236}">
                  <a16:creationId xmlns:a16="http://schemas.microsoft.com/office/drawing/2014/main" id="{1670D444-49B3-A686-32D4-FD38D3B62F63}"/>
                </a:ext>
              </a:extLst>
            </p:cNvPr>
            <p:cNvPicPr>
              <a:picLocks/>
            </p:cNvPicPr>
            <p:nvPr/>
          </p:nvPicPr>
          <p:blipFill>
            <a:blip r:embed="rId4" cstate="print"/>
            <a:stretch>
              <a:fillRect/>
            </a:stretch>
          </p:blipFill>
          <p:spPr>
            <a:xfrm>
              <a:off x="2722007" y="124299"/>
              <a:ext cx="4997767" cy="1092279"/>
            </a:xfrm>
            <a:prstGeom prst="rect">
              <a:avLst/>
            </a:prstGeom>
            <a:noFill/>
            <a:ln w="12700" cap="flat" cmpd="sng">
              <a:noFill/>
              <a:prstDash val="solid"/>
              <a:miter/>
            </a:ln>
          </p:spPr>
        </p:pic>
        <p:pic>
          <p:nvPicPr>
            <p:cNvPr id="69" name="图片">
              <a:extLst>
                <a:ext uri="{FF2B5EF4-FFF2-40B4-BE49-F238E27FC236}">
                  <a16:creationId xmlns:a16="http://schemas.microsoft.com/office/drawing/2014/main" id="{21D0993D-FEF5-3632-7CB6-5796A8262574}"/>
                </a:ext>
              </a:extLst>
            </p:cNvPr>
            <p:cNvPicPr>
              <a:picLocks/>
            </p:cNvPicPr>
            <p:nvPr/>
          </p:nvPicPr>
          <p:blipFill>
            <a:blip r:embed="rId5" cstate="print"/>
            <a:stretch>
              <a:fillRect/>
            </a:stretch>
          </p:blipFill>
          <p:spPr>
            <a:xfrm>
              <a:off x="2847737" y="281409"/>
              <a:ext cx="4585268" cy="522565"/>
            </a:xfrm>
            <a:prstGeom prst="rect">
              <a:avLst/>
            </a:prstGeom>
            <a:noFill/>
            <a:ln w="12700" cap="flat" cmpd="sng">
              <a:noFill/>
              <a:prstDash val="solid"/>
              <a:miter/>
            </a:ln>
          </p:spPr>
        </p:pic>
        <p:sp>
          <p:nvSpPr>
            <p:cNvPr id="70" name="曲线">
              <a:extLst>
                <a:ext uri="{FF2B5EF4-FFF2-40B4-BE49-F238E27FC236}">
                  <a16:creationId xmlns:a16="http://schemas.microsoft.com/office/drawing/2014/main" id="{5C99AFD8-E840-B887-7D05-85181A5FB53F}"/>
                </a:ext>
              </a:extLst>
            </p:cNvPr>
            <p:cNvSpPr>
              <a:spLocks/>
            </p:cNvSpPr>
            <p:nvPr/>
          </p:nvSpPr>
          <p:spPr>
            <a:xfrm>
              <a:off x="2902743" y="320752"/>
              <a:ext cx="4479290" cy="416559"/>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9" y="1053"/>
                  </a:lnTo>
                  <a:lnTo>
                    <a:pt x="32" y="2194"/>
                  </a:lnTo>
                  <a:lnTo>
                    <a:pt x="0" y="3596"/>
                  </a:lnTo>
                  <a:lnTo>
                    <a:pt x="0" y="17988"/>
                  </a:lnTo>
                  <a:lnTo>
                    <a:pt x="32" y="19390"/>
                  </a:lnTo>
                  <a:lnTo>
                    <a:pt x="119" y="20531"/>
                  </a:lnTo>
                  <a:lnTo>
                    <a:pt x="250" y="21302"/>
                  </a:lnTo>
                  <a:lnTo>
                    <a:pt x="409" y="21585"/>
                  </a:lnTo>
                  <a:lnTo>
                    <a:pt x="21189" y="21585"/>
                  </a:lnTo>
                  <a:lnTo>
                    <a:pt x="21349" y="21302"/>
                  </a:lnTo>
                  <a:lnTo>
                    <a:pt x="21479" y="20531"/>
                  </a:lnTo>
                  <a:lnTo>
                    <a:pt x="21566" y="19390"/>
                  </a:lnTo>
                  <a:lnTo>
                    <a:pt x="21599" y="17988"/>
                  </a:lnTo>
                  <a:lnTo>
                    <a:pt x="21599" y="3596"/>
                  </a:lnTo>
                  <a:lnTo>
                    <a:pt x="21566" y="2194"/>
                  </a:lnTo>
                  <a:lnTo>
                    <a:pt x="21479" y="1053"/>
                  </a:lnTo>
                  <a:lnTo>
                    <a:pt x="21349" y="282"/>
                  </a:lnTo>
                  <a:lnTo>
                    <a:pt x="21189" y="0"/>
                  </a:lnTo>
                  <a:close/>
                </a:path>
              </a:pathLst>
            </a:custGeom>
            <a:solidFill>
              <a:srgbClr val="FF6600"/>
            </a:solidFill>
            <a:ln cap="flat" cmpd="sng">
              <a:noFill/>
              <a:prstDash val="solid"/>
              <a:miter/>
            </a:ln>
          </p:spPr>
        </p:sp>
      </p:grpSp>
      <p:pic>
        <p:nvPicPr>
          <p:cNvPr id="74" name="图片">
            <a:extLst>
              <a:ext uri="{FF2B5EF4-FFF2-40B4-BE49-F238E27FC236}">
                <a16:creationId xmlns:a16="http://schemas.microsoft.com/office/drawing/2014/main" id="{07F4E4AB-A82E-289E-8F43-7886E3A28AA7}"/>
              </a:ext>
            </a:extLst>
          </p:cNvPr>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5" name="TextBox 14">
            <a:extLst>
              <a:ext uri="{FF2B5EF4-FFF2-40B4-BE49-F238E27FC236}">
                <a16:creationId xmlns:a16="http://schemas.microsoft.com/office/drawing/2014/main" id="{D6800F0B-51D5-E5DF-E647-DDE8B608DB60}"/>
              </a:ext>
            </a:extLst>
          </p:cNvPr>
          <p:cNvSpPr txBox="1"/>
          <p:nvPr/>
        </p:nvSpPr>
        <p:spPr>
          <a:xfrm>
            <a:off x="4306248" y="331765"/>
            <a:ext cx="5034774" cy="1200329"/>
          </a:xfrm>
          <a:prstGeom prst="rect">
            <a:avLst/>
          </a:prstGeom>
          <a:noFill/>
        </p:spPr>
        <p:txBody>
          <a:bodyPr wrap="square">
            <a:spAutoFit/>
          </a:bodyPr>
          <a:lstStyle/>
          <a:p>
            <a:r>
              <a:rPr lang="en-US" b="1" dirty="0" smtClean="0">
                <a:solidFill>
                  <a:schemeClr val="bg1"/>
                </a:solidFill>
                <a:latin typeface="Times New Roman" panose="02020603050405020304" pitchFamily="18" charset="0"/>
              </a:rPr>
              <a:t>CLUSTERING</a:t>
            </a:r>
            <a:endParaRPr lang="en-IN" b="1" dirty="0">
              <a:solidFill>
                <a:schemeClr val="bg1"/>
              </a:solidFill>
              <a:latin typeface="Times New Roman" panose="02020603050405020304" pitchFamily="18" charset="0"/>
            </a:endParaRPr>
          </a:p>
          <a:p>
            <a:endParaRPr lang="en-IN" b="1" dirty="0">
              <a:solidFill>
                <a:schemeClr val="bg1"/>
              </a:solidFill>
              <a:latin typeface="Times New Roman" panose="02020603050405020304" pitchFamily="18" charset="0"/>
            </a:endParaRPr>
          </a:p>
          <a:p>
            <a:endParaRPr lang="en-IN" sz="2400" b="1" dirty="0">
              <a:solidFill>
                <a:schemeClr val="bg1"/>
              </a:solidFill>
              <a:latin typeface="Times New Roman" panose="02020603050405020304" pitchFamily="18" charset="0"/>
            </a:endParaRPr>
          </a:p>
        </p:txBody>
      </p:sp>
      <p:sp>
        <p:nvSpPr>
          <p:cNvPr id="9" name="AutoShape 8">
            <a:extLst>
              <a:ext uri="{FF2B5EF4-FFF2-40B4-BE49-F238E27FC236}">
                <a16:creationId xmlns:a16="http://schemas.microsoft.com/office/drawing/2014/main" id="{E97FC587-1843-9BF1-FD3D-0DE193F1A7C3}"/>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519103" y="1060409"/>
            <a:ext cx="6474468" cy="461665"/>
          </a:xfrm>
          <a:prstGeom prst="rect">
            <a:avLst/>
          </a:prstGeom>
        </p:spPr>
        <p:txBody>
          <a:bodyPr wrap="square">
            <a:spAutoFit/>
          </a:bodyPr>
          <a:lstStyle/>
          <a:p>
            <a:r>
              <a:rPr lang="en-IN" b="1" dirty="0">
                <a:latin typeface="Times New Roman" panose="02020603050405020304" pitchFamily="18" charset="0"/>
              </a:rPr>
              <a:t>K-Means </a:t>
            </a:r>
            <a:r>
              <a:rPr lang="en-IN" b="1" dirty="0" smtClean="0">
                <a:latin typeface="Times New Roman" panose="02020603050405020304" pitchFamily="18" charset="0"/>
              </a:rPr>
              <a:t>Clustering:</a:t>
            </a:r>
            <a:endParaRPr lang="en-IN" b="1" dirty="0">
              <a:latin typeface="Times New Roman" panose="02020603050405020304" pitchFamily="18" charset="0"/>
            </a:endParaRPr>
          </a:p>
        </p:txBody>
      </p:sp>
      <p:sp>
        <p:nvSpPr>
          <p:cNvPr id="7" name="Rectangle 6"/>
          <p:cNvSpPr/>
          <p:nvPr/>
        </p:nvSpPr>
        <p:spPr>
          <a:xfrm>
            <a:off x="5350674" y="1060408"/>
            <a:ext cx="5133705" cy="461665"/>
          </a:xfrm>
          <a:prstGeom prst="rect">
            <a:avLst/>
          </a:prstGeom>
        </p:spPr>
        <p:txBody>
          <a:bodyPr wrap="square">
            <a:spAutoFit/>
          </a:bodyPr>
          <a:lstStyle/>
          <a:p>
            <a:r>
              <a:rPr lang="en-IN" b="1" dirty="0">
                <a:latin typeface="Times New Roman" panose="02020603050405020304" pitchFamily="18" charset="0"/>
              </a:rPr>
              <a:t>Hierarchical </a:t>
            </a:r>
            <a:r>
              <a:rPr lang="en-IN" b="1" dirty="0" smtClean="0">
                <a:latin typeface="Times New Roman" panose="02020603050405020304" pitchFamily="18" charset="0"/>
              </a:rPr>
              <a:t>Clustering:</a:t>
            </a:r>
            <a:endParaRPr lang="en-IN" b="1" dirty="0">
              <a:latin typeface="Times New Roman" panose="02020603050405020304" pitchFamily="18" charset="0"/>
            </a:endParaRPr>
          </a:p>
        </p:txBody>
      </p:sp>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53910" y="2842010"/>
            <a:ext cx="4344954" cy="3273772"/>
          </a:xfrm>
          <a:prstGeom prst="rect">
            <a:avLst/>
          </a:prstGeom>
        </p:spPr>
      </p:pic>
      <p:pic>
        <p:nvPicPr>
          <p:cNvPr id="3" name="Picture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4257" y="2843827"/>
            <a:ext cx="4342543" cy="3271955"/>
          </a:xfrm>
          <a:prstGeom prst="rect">
            <a:avLst/>
          </a:prstGeom>
        </p:spPr>
      </p:pic>
      <p:sp>
        <p:nvSpPr>
          <p:cNvPr id="10" name="Rectangle 9"/>
          <p:cNvSpPr/>
          <p:nvPr/>
        </p:nvSpPr>
        <p:spPr>
          <a:xfrm>
            <a:off x="5350674" y="1529277"/>
            <a:ext cx="4300969" cy="1200329"/>
          </a:xfrm>
          <a:prstGeom prst="rect">
            <a:avLst/>
          </a:prstGeom>
        </p:spPr>
        <p:txBody>
          <a:bodyPr wrap="square">
            <a:spAutoFit/>
          </a:bodyPr>
          <a:lstStyle/>
          <a:p>
            <a:r>
              <a:rPr lang="en-IN" sz="1800" dirty="0">
                <a:latin typeface="Times New Roman" panose="02020603050405020304" pitchFamily="18" charset="0"/>
              </a:rPr>
              <a:t>Uses a tree-like structure to group similar data step-by-step based on </a:t>
            </a:r>
            <a:r>
              <a:rPr lang="en-IN" sz="1800" dirty="0" smtClean="0">
                <a:latin typeface="Times New Roman" panose="02020603050405020304" pitchFamily="18" charset="0"/>
              </a:rPr>
              <a:t>distance. In </a:t>
            </a:r>
            <a:r>
              <a:rPr lang="en-IN" sz="1800" dirty="0">
                <a:latin typeface="Times New Roman" panose="02020603050405020304" pitchFamily="18" charset="0"/>
              </a:rPr>
              <a:t>this result, almost all instances (299/300) fall into one cluster, showing low separation.</a:t>
            </a:r>
          </a:p>
        </p:txBody>
      </p:sp>
      <p:sp>
        <p:nvSpPr>
          <p:cNvPr id="11" name="Rectangle 10"/>
          <p:cNvSpPr/>
          <p:nvPr/>
        </p:nvSpPr>
        <p:spPr>
          <a:xfrm>
            <a:off x="519103" y="1498011"/>
            <a:ext cx="4026810" cy="1200329"/>
          </a:xfrm>
          <a:prstGeom prst="rect">
            <a:avLst/>
          </a:prstGeom>
        </p:spPr>
        <p:txBody>
          <a:bodyPr wrap="square">
            <a:spAutoFit/>
          </a:bodyPr>
          <a:lstStyle/>
          <a:p>
            <a:r>
              <a:rPr lang="en-IN" sz="1800" dirty="0">
                <a:latin typeface="Times New Roman" panose="02020603050405020304" pitchFamily="18" charset="0"/>
              </a:rPr>
              <a:t>Divides data into K clusters by minimizing within-cluster variance (SSE</a:t>
            </a:r>
            <a:r>
              <a:rPr lang="en-IN" sz="1800" dirty="0" smtClean="0">
                <a:latin typeface="Times New Roman" panose="02020603050405020304" pitchFamily="18" charset="0"/>
              </a:rPr>
              <a:t>). Produces </a:t>
            </a:r>
            <a:r>
              <a:rPr lang="en-IN" sz="1800" dirty="0">
                <a:latin typeface="Times New Roman" panose="02020603050405020304" pitchFamily="18" charset="0"/>
              </a:rPr>
              <a:t>two balanced clusters (48% and 52%) with distinct centroids.</a:t>
            </a:r>
          </a:p>
        </p:txBody>
      </p:sp>
    </p:spTree>
    <p:extLst>
      <p:ext uri="{BB962C8B-B14F-4D97-AF65-F5344CB8AC3E}">
        <p14:creationId xmlns:p14="http://schemas.microsoft.com/office/powerpoint/2010/main" val="2101821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文本框"/>
          <p:cNvSpPr>
            <a:spLocks noGrp="1"/>
          </p:cNvSpPr>
          <p:nvPr>
            <p:ph type="ctrTitle"/>
          </p:nvPr>
        </p:nvSpPr>
        <p:spPr>
          <a:xfrm>
            <a:off x="3012920" y="3238110"/>
            <a:ext cx="4827690" cy="83099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a:lnSpc>
                <a:spcPct val="100000"/>
              </a:lnSpc>
              <a:spcBef>
                <a:spcPts val="0"/>
              </a:spcBef>
              <a:spcAft>
                <a:spcPts val="0"/>
              </a:spcAft>
              <a:buNone/>
            </a:pPr>
            <a:r>
              <a:rPr lang="en-US" altLang="zh-CN" sz="4800" b="1" i="0" u="none" strike="noStrike" kern="0" cap="none" spc="0" baseline="0" dirty="0">
                <a:solidFill>
                  <a:srgbClr val="E46D0A"/>
                </a:solidFill>
                <a:latin typeface="Palatino Linotype" charset="0"/>
                <a:ea typeface="宋体" charset="0"/>
                <a:cs typeface="Palatino Linotype" charset="0"/>
              </a:rPr>
              <a:t>THANK YOU</a:t>
            </a:r>
            <a:endParaRPr lang="zh-CN" altLang="en-US" sz="4800" b="1" i="0" u="none" strike="noStrike" kern="0" cap="none" spc="0" baseline="0" dirty="0">
              <a:solidFill>
                <a:srgbClr val="E46D0A"/>
              </a:solidFill>
              <a:latin typeface="Palatino Linotype" charset="0"/>
              <a:ea typeface="宋体" charset="0"/>
              <a:cs typeface="Palatino Linotype" charset="0"/>
            </a:endParaRPr>
          </a:p>
        </p:txBody>
      </p:sp>
      <p:pic>
        <p:nvPicPr>
          <p:cNvPr id="100" name="图片"/>
          <p:cNvPicPr>
            <a:picLocks/>
          </p:cNvPicPr>
          <p:nvPr/>
        </p:nvPicPr>
        <p:blipFill>
          <a:blip r:embed="rId3" cstate="print"/>
          <a:stretch>
            <a:fillRect/>
          </a:stretch>
        </p:blipFill>
        <p:spPr>
          <a:xfrm>
            <a:off x="290750" y="204311"/>
            <a:ext cx="1163002" cy="424338"/>
          </a:xfrm>
          <a:prstGeom prst="rect">
            <a:avLst/>
          </a:prstGeom>
          <a:noFill/>
          <a:ln w="12700" cap="flat" cmpd="sng">
            <a:noFill/>
            <a:prstDash val="solid"/>
            <a:miter/>
          </a:ln>
        </p:spPr>
      </p:pic>
    </p:spTree>
    <p:extLst>
      <p:ext uri="{BB962C8B-B14F-4D97-AF65-F5344CB8AC3E}">
        <p14:creationId xmlns:p14="http://schemas.microsoft.com/office/powerpoint/2010/main" val="409271981"/>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2860</TotalTime>
  <Words>1223</Words>
  <Application>Microsoft Office PowerPoint</Application>
  <PresentationFormat>Custom</PresentationFormat>
  <Paragraphs>122</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宋体</vt:lpstr>
      <vt:lpstr>Arial</vt:lpstr>
      <vt:lpstr>Calibri</vt:lpstr>
      <vt:lpstr>Droid Sans</vt:lpstr>
      <vt:lpstr>Lucida Sans</vt:lpstr>
      <vt:lpstr>Palatino Linotype</vt:lpstr>
      <vt:lpstr>Times New Roman</vt:lpstr>
      <vt:lpstr>Office Theme</vt:lpstr>
      <vt:lpstr>Data Mining Capstone Project  </vt:lpstr>
      <vt:lpstr>PowerPoint Presentation</vt:lpstr>
      <vt:lpstr>ABSTRACT</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User</cp:lastModifiedBy>
  <cp:revision>54</cp:revision>
  <cp:lastPrinted>2025-10-14T18:21:49Z</cp:lastPrinted>
  <dcterms:created xsi:type="dcterms:W3CDTF">2025-10-10T08:28:06Z</dcterms:created>
  <dcterms:modified xsi:type="dcterms:W3CDTF">2026-03-23T09:10:32Z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2025-09-11T16:00:00Z</vt:filetime>
  </property>
  <property fmtid="{D5CDD505-2E9C-101B-9397-08002B2CF9AE}" pid="3" name="LastSaved">
    <vt:filetime>2025-10-09T16:00:00Z</vt:filetime>
  </property>
</Properties>
</file>